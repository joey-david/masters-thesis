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7.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b1dcd542ac4736" /><Relationship Type="http://schemas.openxmlformats.org/officeDocument/2006/relationships/extended-properties" Target="/docProps/app.xml" Id="R6f41210c8a9e42ce" /><Relationship Type="http://schemas.openxmlformats.org/officeDocument/2006/relationships/officeDocument" Target="/ppt/presentation.xml" Id="R47db15f879004fd2" /></Relationships>
</file>

<file path=ppt/presentation.xml><?xml version="1.0" encoding="utf-8"?>
<p:presentation xmlns:p="http://schemas.openxmlformats.org/presentationml/2006/main">
  <p:sldMasterIdLst>
    <p:sldMasterId xmlns:r="http://schemas.openxmlformats.org/officeDocument/2006/relationships" id="2147483648" r:id="R9027b9f0d5eb4a8e"/>
  </p:sldMasterIdLst>
  <p:notesMasterIdLst>
    <p:notesMasterId xmlns:r="http://schemas.openxmlformats.org/officeDocument/2006/relationships" r:id="R5fd3b658289b4880"/>
  </p:notesMasterIdLst>
  <p:sldIdLst>
    <p:sldId xmlns:r="http://schemas.openxmlformats.org/officeDocument/2006/relationships" id="256" r:id="Rc98e417fdff54eb9"/>
    <p:sldId xmlns:r="http://schemas.openxmlformats.org/officeDocument/2006/relationships" id="257" r:id="R70623689a3e7415b"/>
    <p:sldId xmlns:r="http://schemas.openxmlformats.org/officeDocument/2006/relationships" id="258" r:id="R83e555cd0da94d15"/>
    <p:sldId xmlns:r="http://schemas.openxmlformats.org/officeDocument/2006/relationships" id="259" r:id="Rf5544402128d48a4"/>
    <p:sldId xmlns:r="http://schemas.openxmlformats.org/officeDocument/2006/relationships" id="260" r:id="R8f3385e81a894173"/>
    <p:sldId xmlns:r="http://schemas.openxmlformats.org/officeDocument/2006/relationships" id="261" r:id="Rc8aa4be7aa3c434f"/>
    <p:sldId xmlns:r="http://schemas.openxmlformats.org/officeDocument/2006/relationships" id="262" r:id="Rc387445c0dbc4f9c"/>
    <p:sldId xmlns:r="http://schemas.openxmlformats.org/officeDocument/2006/relationships" id="263" r:id="R68f42cc698c6444e"/>
    <p:sldId xmlns:r="http://schemas.openxmlformats.org/officeDocument/2006/relationships" id="264" r:id="R1d74071f2847451b"/>
    <p:sldId xmlns:r="http://schemas.openxmlformats.org/officeDocument/2006/relationships" id="265" r:id="R823fd944d51c41ae"/>
    <p:sldId xmlns:r="http://schemas.openxmlformats.org/officeDocument/2006/relationships" id="266" r:id="R572dab4bf37c4ade"/>
    <p:sldId xmlns:r="http://schemas.openxmlformats.org/officeDocument/2006/relationships" id="267" r:id="R68899d72c57744d2"/>
    <p:sldId xmlns:r="http://schemas.openxmlformats.org/officeDocument/2006/relationships" id="268" r:id="Rcd556bbc71ac4fde"/>
    <p:sldId xmlns:r="http://schemas.openxmlformats.org/officeDocument/2006/relationships" id="269" r:id="R68f160d56bb04d48"/>
    <p:sldId xmlns:r="http://schemas.openxmlformats.org/officeDocument/2006/relationships" id="270" r:id="R71991fd29840448f"/>
    <p:sldId xmlns:r="http://schemas.openxmlformats.org/officeDocument/2006/relationships" id="271" r:id="R39e4707851c1496e"/>
    <p:sldId xmlns:r="http://schemas.openxmlformats.org/officeDocument/2006/relationships" id="272" r:id="R5884a4f1ce4a452f"/>
    <p:sldId xmlns:r="http://schemas.openxmlformats.org/officeDocument/2006/relationships" id="273" r:id="R2002167519c94805"/>
    <p:sldId xmlns:r="http://schemas.openxmlformats.org/officeDocument/2006/relationships" id="274" r:id="R6bb235e116154cd1"/>
    <p:sldId xmlns:r="http://schemas.openxmlformats.org/officeDocument/2006/relationships" id="275" r:id="R48cd3ca62fb44a0e"/>
    <p:sldId xmlns:r="http://schemas.openxmlformats.org/officeDocument/2006/relationships" id="276" r:id="Rfb271a61ffe54dca"/>
    <p:sldId xmlns:r="http://schemas.openxmlformats.org/officeDocument/2006/relationships" id="277" r:id="R28cf4d927c7346a5"/>
    <p:sldId xmlns:r="http://schemas.openxmlformats.org/officeDocument/2006/relationships" id="278" r:id="R6df3d8de948249d8"/>
    <p:sldId xmlns:r="http://schemas.openxmlformats.org/officeDocument/2006/relationships" id="279" r:id="R392d27e0a1454347"/>
    <p:sldId xmlns:r="http://schemas.openxmlformats.org/officeDocument/2006/relationships" id="280" r:id="Rb158306147984eb6"/>
    <p:sldId xmlns:r="http://schemas.openxmlformats.org/officeDocument/2006/relationships" id="281" r:id="R0e37864ccdac47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1def9824f74751" /><Relationship Type="http://schemas.openxmlformats.org/officeDocument/2006/relationships/slideMaster" Target="/ppt/slideMasters/slideMaster1.xml" Id="R9027b9f0d5eb4a8e" /><Relationship Type="http://schemas.openxmlformats.org/officeDocument/2006/relationships/notesMaster" Target="/ppt/notesMasters/notesMaster1.xml" Id="R5fd3b658289b4880" /><Relationship Type="http://schemas.openxmlformats.org/officeDocument/2006/relationships/presProps" Target="/ppt/presProps.xml" Id="R16264515dd594555" /><Relationship Type="http://schemas.openxmlformats.org/officeDocument/2006/relationships/tableStyles" Target="/ppt/tableStyles.xml" Id="R88a302192e974d7f" /><Relationship Type="http://schemas.openxmlformats.org/officeDocument/2006/relationships/slide" Target="/ppt/slides/slide1.xml" Id="Rc98e417fdff54eb9" /><Relationship Type="http://schemas.openxmlformats.org/officeDocument/2006/relationships/slide" Target="/ppt/slides/slide2.xml" Id="R70623689a3e7415b" /><Relationship Type="http://schemas.openxmlformats.org/officeDocument/2006/relationships/slide" Target="/ppt/slides/slide3.xml" Id="R83e555cd0da94d15" /><Relationship Type="http://schemas.openxmlformats.org/officeDocument/2006/relationships/slide" Target="/ppt/slides/slide4.xml" Id="Rf5544402128d48a4" /><Relationship Type="http://schemas.openxmlformats.org/officeDocument/2006/relationships/slide" Target="/ppt/slides/slide5.xml" Id="R8f3385e81a894173" /><Relationship Type="http://schemas.openxmlformats.org/officeDocument/2006/relationships/slide" Target="/ppt/slides/slide6.xml" Id="Rc8aa4be7aa3c434f" /><Relationship Type="http://schemas.openxmlformats.org/officeDocument/2006/relationships/slide" Target="/ppt/slides/slide7.xml" Id="Rc387445c0dbc4f9c" /><Relationship Type="http://schemas.openxmlformats.org/officeDocument/2006/relationships/slide" Target="/ppt/slides/slide8.xml" Id="R68f42cc698c6444e" /><Relationship Type="http://schemas.openxmlformats.org/officeDocument/2006/relationships/slide" Target="/ppt/slides/slide9.xml" Id="R1d74071f2847451b" /><Relationship Type="http://schemas.openxmlformats.org/officeDocument/2006/relationships/slide" Target="/ppt/slides/slide10.xml" Id="R823fd944d51c41ae" /><Relationship Type="http://schemas.openxmlformats.org/officeDocument/2006/relationships/slide" Target="/ppt/slides/slide11.xml" Id="R572dab4bf37c4ade" /><Relationship Type="http://schemas.openxmlformats.org/officeDocument/2006/relationships/slide" Target="/ppt/slides/slide12.xml" Id="R68899d72c57744d2" /><Relationship Type="http://schemas.openxmlformats.org/officeDocument/2006/relationships/slide" Target="/ppt/slides/slide13.xml" Id="Rcd556bbc71ac4fde" /><Relationship Type="http://schemas.openxmlformats.org/officeDocument/2006/relationships/slide" Target="/ppt/slides/slide14.xml" Id="R68f160d56bb04d48" /><Relationship Type="http://schemas.openxmlformats.org/officeDocument/2006/relationships/slide" Target="/ppt/slides/slide15.xml" Id="R71991fd29840448f" /><Relationship Type="http://schemas.openxmlformats.org/officeDocument/2006/relationships/slide" Target="/ppt/slides/slide16.xml" Id="R39e4707851c1496e" /><Relationship Type="http://schemas.openxmlformats.org/officeDocument/2006/relationships/slide" Target="/ppt/slides/slide17.xml" Id="R5884a4f1ce4a452f" /><Relationship Type="http://schemas.openxmlformats.org/officeDocument/2006/relationships/slide" Target="/ppt/slides/slide18.xml" Id="R2002167519c94805" /><Relationship Type="http://schemas.openxmlformats.org/officeDocument/2006/relationships/slide" Target="/ppt/slides/slide19.xml" Id="R6bb235e116154cd1" /><Relationship Type="http://schemas.openxmlformats.org/officeDocument/2006/relationships/slide" Target="/ppt/slides/slide20.xml" Id="R48cd3ca62fb44a0e" /><Relationship Type="http://schemas.openxmlformats.org/officeDocument/2006/relationships/slide" Target="/ppt/slides/slide21.xml" Id="Rfb271a61ffe54dca" /><Relationship Type="http://schemas.openxmlformats.org/officeDocument/2006/relationships/slide" Target="/ppt/slides/slide22.xml" Id="R28cf4d927c7346a5" /><Relationship Type="http://schemas.openxmlformats.org/officeDocument/2006/relationships/slide" Target="/ppt/slides/slide23.xml" Id="R6df3d8de948249d8" /><Relationship Type="http://schemas.openxmlformats.org/officeDocument/2006/relationships/slide" Target="/ppt/slides/slide24.xml" Id="R392d27e0a1454347" /><Relationship Type="http://schemas.openxmlformats.org/officeDocument/2006/relationships/slide" Target="/ppt/slides/slide25.xml" Id="Rb158306147984eb6" /><Relationship Type="http://schemas.openxmlformats.org/officeDocument/2006/relationships/slide" Target="/ppt/slides/slide26.xml" Id="R0e37864ccdac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7ad241ed1845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f9d4025608459a" /><Relationship Type="http://schemas.openxmlformats.org/officeDocument/2006/relationships/notesMaster" Target="/ppt/notesMasters/notesMaster1.xml" Id="Rf53994ab178644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57f9568ccd4d45" /><Relationship Type="http://schemas.openxmlformats.org/officeDocument/2006/relationships/notesMaster" Target="/ppt/notesMasters/notesMaster1.xml" Id="Rbe57418a892a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11f4e9bd954800" /><Relationship Type="http://schemas.openxmlformats.org/officeDocument/2006/relationships/notesMaster" Target="/ppt/notesMasters/notesMaster1.xml" Id="Rc8dc9977ebc546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c0854442342d7" /><Relationship Type="http://schemas.openxmlformats.org/officeDocument/2006/relationships/notesMaster" Target="/ppt/notesMasters/notesMaster1.xml" Id="R58c6fd7505d643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8ed8695ab2407e" /><Relationship Type="http://schemas.openxmlformats.org/officeDocument/2006/relationships/notesMaster" Target="/ppt/notesMasters/notesMaster1.xml" Id="Rc7953eb07ab34b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65e000fd464984" /><Relationship Type="http://schemas.openxmlformats.org/officeDocument/2006/relationships/notesMaster" Target="/ppt/notesMasters/notesMaster1.xml" Id="R5b815a9352d846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4f22913c174410" /><Relationship Type="http://schemas.openxmlformats.org/officeDocument/2006/relationships/notesMaster" Target="/ppt/notesMasters/notesMaster1.xml" Id="R551589b0bdaf46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3382c59d347f2" /><Relationship Type="http://schemas.openxmlformats.org/officeDocument/2006/relationships/notesMaster" Target="/ppt/notesMasters/notesMaster1.xml" Id="Rb5ea94bb232d46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d2cbfef7254288" /><Relationship Type="http://schemas.openxmlformats.org/officeDocument/2006/relationships/notesMaster" Target="/ppt/notesMasters/notesMaster1.xml" Id="Ra9c990f00fdb4e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811a9187564aba" /><Relationship Type="http://schemas.openxmlformats.org/officeDocument/2006/relationships/notesMaster" Target="/ppt/notesMasters/notesMaster1.xml" Id="R3a7be10f00aa4b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96312139f14852" /><Relationship Type="http://schemas.openxmlformats.org/officeDocument/2006/relationships/notesMaster" Target="/ppt/notesMasters/notesMaster1.xml" Id="R9ec117e6829949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87303f3ac24857" /><Relationship Type="http://schemas.openxmlformats.org/officeDocument/2006/relationships/notesMaster" Target="/ppt/notesMasters/notesMaster1.xml" Id="R07b34e0776b94d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4a071f7ab24698" /><Relationship Type="http://schemas.openxmlformats.org/officeDocument/2006/relationships/notesMaster" Target="/ppt/notesMasters/notesMaster1.xml" Id="Rdac1c3cdc11445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e0749f0ad24ec1" /><Relationship Type="http://schemas.openxmlformats.org/officeDocument/2006/relationships/notesMaster" Target="/ppt/notesMasters/notesMaster1.xml" Id="R1808a19fda5b4c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c4ff040bfa4256" /><Relationship Type="http://schemas.openxmlformats.org/officeDocument/2006/relationships/notesMaster" Target="/ppt/notesMasters/notesMaster1.xml" Id="R7e59c8943fc640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fbfb076fcb4423" /><Relationship Type="http://schemas.openxmlformats.org/officeDocument/2006/relationships/notesMaster" Target="/ppt/notesMasters/notesMaster1.xml" Id="R20c54e14dff34e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82c4639e254fc8" /><Relationship Type="http://schemas.openxmlformats.org/officeDocument/2006/relationships/notesMaster" Target="/ppt/notesMasters/notesMaster1.xml" Id="R50a6f3a236cf45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006cd4668c48a5" /><Relationship Type="http://schemas.openxmlformats.org/officeDocument/2006/relationships/notesMaster" Target="/ppt/notesMasters/notesMaster1.xml" Id="R8143aa2c812843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cf59f73b9c47c3" /><Relationship Type="http://schemas.openxmlformats.org/officeDocument/2006/relationships/notesMaster" Target="/ppt/notesMasters/notesMaster1.xml" Id="R7947ac68e58645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f16094e1914149" /><Relationship Type="http://schemas.openxmlformats.org/officeDocument/2006/relationships/notesMaster" Target="/ppt/notesMasters/notesMaster1.xml" Id="R519d5f8a26dd45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3fd6db301442bd" /><Relationship Type="http://schemas.openxmlformats.org/officeDocument/2006/relationships/notesMaster" Target="/ppt/notesMasters/notesMaster1.xml" Id="R4bc162b542e64f5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9c6fb2574b47e1" /><Relationship Type="http://schemas.openxmlformats.org/officeDocument/2006/relationships/notesMaster" Target="/ppt/notesMasters/notesMaster1.xml" Id="R2a4b008236c24c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0cfcfb704844864" /><Relationship Type="http://schemas.openxmlformats.org/officeDocument/2006/relationships/notesMaster" Target="/ppt/notesMasters/notesMaster1.xml" Id="Reeaa3a9edd5243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7214f26ae94450" /><Relationship Type="http://schemas.openxmlformats.org/officeDocument/2006/relationships/notesMaster" Target="/ppt/notesMasters/notesMaster1.xml" Id="R8fee78d341fa45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c5777533e44c34" /><Relationship Type="http://schemas.openxmlformats.org/officeDocument/2006/relationships/notesMaster" Target="/ppt/notesMasters/notesMaster1.xml" Id="R885ad53700e1420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5860c76d3214f92" /><Relationship Type="http://schemas.openxmlformats.org/officeDocument/2006/relationships/notesMaster" Target="/ppt/notesMasters/notesMaster1.xml" Id="R5faf974e4a434d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My internship at MILES, LAMSADE, asks how much information a language model needs to acquire or preserve for a behavior to survive. I studied this in two settings: small parameter updates during fine-tuning, and intermediate states during reasoning. I will first set up the LLM-specific objects, then present the strongest evidence and what it leaves open.</a:t>
            </a:r>
          </a:p>
          <a:p xmlns:a="http://schemas.openxmlformats.org/drawingml/2006/main">
            <a:r>
              <a:t/>
            </a:r>
          </a:p>
          <a:p xmlns:a="http://schemas.openxmlformats.org/drawingml/2006/main">
            <a:r>
              <a:t>Source: Report title page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There are two concrete objects here. At training time I keep the base model shared and fixed, and ask how small a saved update can be while preserving its effect. At inference time I ask what state must remain available so the next computation can still work. These are different experiments, with different units. The shared question concerns usefulness relative to a receiver and a specified behavior. I do not claim a common predictive law.</a:t>
            </a:r>
          </a:p>
          <a:p xmlns:a="http://schemas.openxmlformats.org/drawingml/2006/main">
            <a:r>
              <a:t/>
            </a:r>
          </a:p>
          <a:p xmlns:a="http://schemas.openxmlformats.org/drawingml/2006/main">
            <a:r>
              <a:t>Source: Report §1.2,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A language model is a conditional density model over token sequences. The training objective is the same maximum-likelihood principle familiar from statistical learning, applied to next-token prediction. A transformer turns the available prefix into hidden vectors and a softmax distribution. Generation appends a sampled or selected token, then repeats. A token is a piece of text, not necessarily a word. This gives us both a visible token sequence and hidden activations at each position and layer. Those are the objects we later compress or probe.</a:t>
            </a:r>
          </a:p>
          <a:p xmlns:a="http://schemas.openxmlformats.org/drawingml/2006/main">
            <a:r>
              <a:t/>
            </a:r>
          </a:p>
          <a:p xmlns:a="http://schemas.openxmlformats.org/drawingml/2006/main">
            <a:r>
              <a:t>Source: Report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Full fine-tuning adjusts a large number of weights. LoRA restricts each selected matrix update to a low-rank factorization BA. We freeze W and train the smaller factors A and B. For a square d by d matrix, this changes the number of trainable values from d squared to 2dr. QLoRA also stores the frozen backbone in four-bit form, while training adapters in higher precision. The four-bit backbone is a training-memory choice. In my experiments I subsequently compress the trained adapter itself. Rank controls a parameterization dimension; the saved numbers still need a numerical code. It is therefore not itself a bit count.</a:t>
            </a:r>
          </a:p>
          <a:p xmlns:a="http://schemas.openxmlformats.org/drawingml/2006/main">
            <a:r>
              <a:t/>
            </a:r>
          </a:p>
          <a:p xmlns:a="http://schemas.openxmlformats.org/drawingml/2006/main">
            <a:r>
              <a:t>Source: Report §2.3–2.4. Hu et al., LoRA (2022). Dettmers et al., QLoRA (2023), bibliography entries hu2022lora and dettmers2023qlora.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low-rank factorization reduces the number of values we need to store. Here P denotes the total count across adapted matrices. It does not specify how many bits each value needs. For a uniform b-bit quantizer, the packed payload contains bP bits, plus scales and metadata. The hats denote the dequantized factors the receiver actually uses. Our implementation then applies zlib to the complete payload. Repeated codes and compressible structure can reduce the resulting file size. We measure that size directly and reload it. The reconstruction of BA can differ from the original, so the decisive question is what happens to the model’s output. Nothing here claims that low rank alone guarantees a particular behavioral compression rate.</a:t>
            </a:r>
          </a:p>
          <a:p xmlns:a="http://schemas.openxmlformats.org/drawingml/2006/main">
            <a:r>
              <a:t/>
            </a:r>
          </a:p>
          <a:p xmlns:a="http://schemas.openxmlformats.org/drawingml/2006/main">
            <a:r>
              <a:t>Source: Report §2.3–2.5, §3.3 and Appendix Codec ladder. The fixed-width storage equation is direct parameter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Shannon coding relates probability to description length: an event of probability p takes minus log base two p bits in an ideal code. Entropy averages that quantity. Negative log likelihood therefore has a coding interpretation, but an ideal code length is not automatically the size of a file. Rate–distortion asks for a short representation under a specified error tolerance. The choice of distortion is essential. Here, both sides already have the base model, and I only count the additional adapter file. This is an operational compression experiment over a restricted codec family, not an estimate of an intrinsic Shannon rate–distortion function or a universal lower bound.</a:t>
            </a:r>
          </a:p>
          <a:p xmlns:a="http://schemas.openxmlformats.org/drawingml/2006/main">
            <a:r>
              <a:t/>
            </a:r>
          </a:p>
          <a:p xmlns:a="http://schemas.openxmlformats.org/drawingml/2006/main">
            <a:r>
              <a:t>Source: Report §2.5 and §3.3. Cover and Thomas, Elements of Information Theory (2006).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Consider the example from the report: Natalia sold 48 clips in April, then half as many in May. The goal is the total. The graph separates facts read from the prompt from derived claims. The first calculation gives May as 24. The final calculation combines that with April to get 72. A written chain of thought can spell out these intermediate claims before the answer. This graph describes an idealized dependency structure. It is the hypothesis that motivated my trajectory work, not an observed circuit inside the model. The next slide shows how an autoregressive model actually generates the text that expresses such a computation.</a:t>
            </a:r>
          </a:p>
          <a:p xmlns:a="http://schemas.openxmlformats.org/drawingml/2006/main">
            <a:r>
              <a:t/>
            </a:r>
          </a:p>
          <a:p xmlns:a="http://schemas.openxmlformats.org/drawingml/2006/main">
            <a:r>
              <a:t>Source: Report §4.2, Figure 8, Idealized solution object as a DAG. Original TikZ graph reused from tex/04_reasoning_trajectories.tex.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Let x be the problem, z the intermediate trace, and y the final answer. The joint probability factorizes into next-token probabilities for the trace and the probability of the answer given that trace. Generation samples, or greedily selects, a token and appends it to the context. Each added token gives the transformer another forward pass. The semantic node n May equals 24 can require several tokens, so semantic steps and token steps differ. Training on demonstrations maximizes this joint likelihood. With final-answer rewards, a reinforcement learning objective instead weights generated traces by their outcomes. Conceptually we can marginalize over traces, but standard generation samples a path rather than evaluating that sum. The displayed answer distribution is the distribution induced by this CoT procedure.</a:t>
            </a:r>
          </a:p>
          <a:p xmlns:a="http://schemas.openxmlformats.org/drawingml/2006/main">
            <a:r>
              <a:t/>
            </a:r>
          </a:p>
          <a:p xmlns:a="http://schemas.openxmlformats.org/drawingml/2006/main">
            <a:r>
              <a:t>Source: Report §2.1–2.2 and §4.1. Joint factorization and marginalization follow the probability chain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train a rank-16 adapter once and hold the checkpoint fixed. I then compress it, write a complete file including scales and metadata, reload that file into the frozen backbone, and measure held-out behavior. Every point changes the representation of the same update, rather than training a new model. Rate is file size in bits divided by the number of original adapter values. Retention normalizes the gain over the frozen baseline by the gain of the raw adapter. The operational threshold is the smallest measured rate reaching 90 percent retention. It depends on the codec ladder, adapter architecture, model, and scored behavior. If the raw gain is tiny or nonpositive this ratio needs separate care.</a:t>
            </a:r>
          </a:p>
          <a:p xmlns:a="http://schemas.openxmlformats.org/drawingml/2006/main">
            <a:r>
              <a:t/>
            </a:r>
          </a:p>
          <a:p xmlns:a="http://schemas.openxmlformats.org/drawingml/2006/main">
            <a:r>
              <a:t>Source: Report §3.3 and Appendix, Codec ladder.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first allocator spent bits to minimize weight reconstruction error. It could choose a different precision for each row or drop a row. The simple uniform sign code did much better at roughly one bit per adapter value. This figure uses retained GSM8K exact-match gain, so it is a task-accuracy example, distinct from the likelihood-based threshold used in most later results. The original figure shows comparable reconstruction error despite an 83-point retention gap. That counterexample rejects global weight RMSE as a sufficient behavioral distortion. It does not say every adaptive allocator must fail.</a:t>
            </a:r>
          </a:p>
          <a:p xmlns:a="http://schemas.openxmlformats.org/drawingml/2006/main">
            <a:r>
              <a:t/>
            </a:r>
          </a:p>
          <a:p xmlns:a="http://schemas.openxmlformats.org/drawingml/2006/main">
            <a:r>
              <a:t>Source: Report §3.4 and media/fineqcomp/plots/mdl_vs_uniform.png. Values 85.7% and 2.6% are labels in the report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75 seconds.</a:t>
            </a:r>
          </a:p>
          <a:p xmlns:a="http://schemas.openxmlformats.org/drawingml/2006/main">
            <a:r>
              <a:t/>
            </a:r>
          </a:p>
          <a:p xmlns:a="http://schemas.openxmlformats.org/drawingml/2006/main">
            <a:r>
              <a:t>A natural alternative is that every dataset has an intrinsic adapter cost. To test that, I compare the same five corpora on Mistral and Qwen with the same rank, example count, epochs, and codec. Each value averages three independent adapters, and all 30 curves bracket the retention threshold. Instruction is cheaper than math on Mistral, but more expensive on Qwen. Summarization also changes its position. Dialogue remains costly on both. The conclusion is specific: for these two frozen receivers and this protocol, corpus identity alone does not determine rate. Bits per adapter value normalize storage by the original adapter size; they do not assert identical whole-file size across models.</a:t>
            </a:r>
          </a:p>
          <a:p xmlns:a="http://schemas.openxmlformats.org/drawingml/2006/main">
            <a:r>
              <a:t/>
            </a:r>
          </a:p>
          <a:p xmlns:a="http://schemas.openxmlformats.org/drawingml/2006/main">
            <a:r>
              <a:t>Source: Report §3.7, table labelled tab:model-corpus-rate.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This suggests looking at what a dataset asks a particular model to change. At the output head, a token gradient factorizes into a hidden representation and the prediction error vector p minus the one-hot target. We project these factors and compute a second-moment matrix. The log determinant grows when corrections are large and spread across independent directions. Across 22 distinct model–dataset conditions and seven task families, its within-model rank correlation is 0.764. Leaving one family out gives RMSE 0.187, compared with 0.264 for a model-only fit. Effective rank has slightly better held-out RMSE, so no single statistic wins every criterion. These measures were screened on the same campaign. The permutation correction handles that selection, but only new prospective data can test generality.</a:t>
            </a:r>
          </a:p>
          <a:p xmlns:a="http://schemas.openxmlformats.org/drawingml/2006/main">
            <a:r>
              <a:t/>
            </a:r>
          </a:p>
          <a:p xmlns:a="http://schemas.openxmlformats.org/drawingml/2006/main">
            <a:r>
              <a:t>Source: Report §3.7, equations for g_it and I_corr,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starting hypothesis was that reasoning might have one compact sequence of meaningful internal updates. I test four objectives on the same token gaps: movement toward the answer, verified symbolic updates, correctness-probe changes, and local PCA geometry. Each method gets the same number of boundaries. Random utility is zero and the objective-specific oracle is one. Supervised detectors recover their own targets well, as the chart shows for SmolLM. Yet oracle boundary overlap is low, and the best worst-objective utility among the tested rules is only 0.020. Qwen replicates the qualitative result. The warranted conclusion is that these tested objectives favor different partitions, not a theorem that no universal partition could exist.</a:t>
            </a:r>
          </a:p>
          <a:p xmlns:a="http://schemas.openxmlformats.org/drawingml/2006/main">
            <a:r>
              <a:t/>
            </a:r>
          </a:p>
          <a:p xmlns:a="http://schemas.openxmlformats.org/drawingml/2006/main">
            <a:r>
              <a:t>Source: Report §4.3. Primary corpus: 310,044 SmolLM3-3B tokens. Replication: 61,691 Qwen3-14B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next test has a known state space: eight states reached by a short synthetic program, followed by a pointer lookup. Frozen Qwen2.5-32B can read a supplied state and apply a local update perfectly. At horizon two it infers the endpoint about 77 percent of the time. But asking for both endpoint inference and the final lookup in one prompt gives only 13.44 percent accuracy. Instead, I ask it to predict the endpoint, remove the original history, and give the predicted state to a fresh call. Accuracy returns to 76.98 percent, matching state inference. A correct supplied endpoint gives 100 percent. The intervention supports a routing or composition failure in this assay. It does not establish a patchable native hidden-state code.</a:t>
            </a:r>
          </a:p>
          <a:p xmlns:a="http://schemas.openxmlformats.org/drawingml/2006/main">
            <a:r>
              <a:t/>
            </a:r>
          </a:p>
          <a:p xmlns:a="http://schemas.openxmlformats.org/drawingml/2006/main">
            <a:r>
              <a:t>Source: Report §4.6, Native language-model state and explicit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then train explicit interfaces on a finite proof task. Four facts define 16 possible ledgers, so exact state identification needs four bits under full support. At each step only the current code survives into the next call. Three bits force a collision. A canonical four-bit code assigns one fixed name to each state. A padded five-bit code keeps that naming and adds capacity. A path-aliased five-bit code gives the same semantic state two names depending on its history. Canonical and padded codes recover all states and remain exact over the tested horizon of 256. The aliased code drops to 30 to 40 percent after three active deductions. Equal bit count therefore does not imply equally usable names. Final-answer accuracy is a separate measure: 97.22 percent for canonical versus 72.22 percent one-pass.</a:t>
            </a:r>
          </a:p>
          <a:p xmlns:a="http://schemas.openxmlformats.org/drawingml/2006/main">
            <a:r>
              <a:t/>
            </a:r>
          </a:p>
          <a:p xmlns:a="http://schemas.openxmlformats.org/drawingml/2006/main">
            <a:r>
              <a:t>Source: Report §4.7, Rate, shared meaning, and closure. Three training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proof rule is very regular. On a mixed register task with addition, XOR, swap, and conditional updates, the interface becomes much less reliable. A local update is correct about 89 percent of the time, evaluated from the actual supplied state. This avoids unfairly marking a later update wrong just because a previous update already failed. Even so, the final horizon-32 answer is correct only 7.92 percent of the time, close to the 6.25 percent chance rate. The illustrative calculation of 0.89 to the power 31 is about 2.7 percent, but it assumes independent errors and is not a fitted prediction of final accuracy: errors can be dependent or cancel. The important measurement is the complete self-fed execution.</a:t>
            </a:r>
          </a:p>
          <a:p xmlns:a="http://schemas.openxmlformats.org/drawingml/2006/main">
            <a:r>
              <a:t/>
            </a:r>
          </a:p>
          <a:p xmlns:a="http://schemas.openxmlformats.org/drawingml/2006/main">
            <a:r>
              <a:t>Source: Report §4.7 and media/reasoning/plots/06_local_global_reliability.pdf. The 0.89^31 illustration is calculated, not experimental.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This is the most direct completed connection between the tracks. On MetaMathQA I use the same adapter compression protocol, but score the reasoning and final-answer spans separately. For Mistral, preserving reasoning gain at 90 percent costs about 1.070 bits per value, compared with 0.578 for answer gain. For Qwen, reasoning costs 0.471 and answers 0.575. The ordering reverses. These are update-storage rates for span-specific next-token behavior. They are not the token length of a reasoning trace, nor a measurement of the information needed by reinforcement learning. This study uses one corpus, two models, and a lexical span boundary, with fewer answer tokens. It supports model and utility dependence within that scope.</a:t>
            </a:r>
          </a:p>
          <a:p xmlns:a="http://schemas.openxmlformats.org/drawingml/2006/main">
            <a:r>
              <a:t/>
            </a:r>
          </a:p>
          <a:p xmlns:a="http://schemas.openxmlformats.org/drawingml/2006/main">
            <a:r>
              <a:t>Source: Report §5.1–5.3. Rates are 1.070/0.578 on Mistral and 0.471/0.575 on Qwen for reasoning/answer.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I would separate the findings from the interpretation. The adapter protocol gives an actual reloadable rate under a defined utility, and the cross-model comparisons reject dataset-only cost in the tested setting. The reasoning experiments find different useful partitions, then separate state inference from state use. Controlled interfaces show that enough capacity and stable names help, but recursive transition errors remain decisive. These observations support a common interpretation: useful information is relative to a receiver and a task, with an additional update requirement under repeated use. They do not yet reduce to a single quantity that predicts both adapter rate and reasoning reliability.</a:t>
            </a:r>
          </a:p>
          <a:p xmlns:a="http://schemas.openxmlformats.org/drawingml/2006/main">
            <a:r>
              <a:t/>
            </a:r>
          </a:p>
          <a:p xmlns:a="http://schemas.openxmlformats.org/drawingml/2006/main">
            <a:r>
              <a:t>Source: Report §3.8, §4.8,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strongest next test is prospective. Before fine-tuning a new receiver and task, compute correction spectra separately for reasoning and answer tokens and freeze a prediction of their later rate thresholds. Then test the prediction after training. A second experiment takes one fixed reasoning adapter down the rate ladder and measures whether state decoding, state handoff, and answer behavior fail together. Different failure points would show different information requirements within one model; coincident failure could reveal a stronger common constraint. These are proposed experiments in the report, not completed results.</a:t>
            </a:r>
          </a:p>
          <a:p xmlns:a="http://schemas.openxmlformats.org/drawingml/2006/main">
            <a:r>
              <a:t/>
            </a:r>
          </a:p>
          <a:p xmlns:a="http://schemas.openxmlformats.org/drawingml/2006/main">
            <a:r>
              <a:t>Source: Report §5.4, How to test the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The main contribution is to replace loose information proxies with concrete behavioral tests. For fine-tuning, I measure a reloadable update at a chosen retention threshold. For reasoning, I distinguish visible or decodable structure from a state that supports continued computation. The strongest shared lesson is dependence on receiver and task, with update reliability becoming essential under recursion. Correction spectra provide a promising way to turn that interpretation into a prediction, but that remains the next research step. Thank you.</a:t>
            </a:r>
          </a:p>
          <a:p xmlns:a="http://schemas.openxmlformats.org/drawingml/2006/main">
            <a:r>
              <a:t/>
            </a:r>
          </a:p>
          <a:p xmlns:a="http://schemas.openxmlformats.org/drawingml/2006/main">
            <a:r>
              <a:t>Source: Report abstract,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This is an exact finite controller, not an LLM experiment. Across 90 cells the full public history and a 12-bit suffix initially have the same support, state mutual information of 2.512 bits, and path leakage of 1.781 bits. Their update rules then diverge: the suffix discards older evidence. At horizon 32 their regrets are 2.20 and 30.91. Across cells, pooled suffix regret is 7.19 times larger. A 12-bit explicit field state removes 79.3 percent of no-memory regret, compared with 93.7 percent for full history and 54.8 percent for the suffix. The field state can still miss a held-out goal if its objective omitted needed fields.</a:t>
            </a:r>
          </a:p>
          <a:p xmlns:a="http://schemas.openxmlformats.org/drawingml/2006/main">
            <a:r>
              <a:t/>
            </a:r>
          </a:p>
          <a:p xmlns:a="http://schemas.openxmlformats.org/drawingml/2006/main">
            <a:r>
              <a:t>Source: Report §4.5, Exact control: snapshot information is not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distinct-example sweep uses 2,000 optimizer steps and 32,000 example presentations in every condition. The mean rate generally rises with distinct records but is not monotone. Each point has three seeds. The fit over 15 runs has R squared 0.78, but it is a within-campaign trend, not a general scaling law. The separate content-diversity control fixes 8,000 examples and increases the number of source problems, moving mean rate from 0.682 to 0.742 over six seeds. SQL replication is weak and inconsistent, whereas XBRL increases in all six model-seed pairs, with a support-coverage confound.</a:t>
            </a:r>
          </a:p>
          <a:p xmlns:a="http://schemas.openxmlformats.org/drawingml/2006/main">
            <a:r>
              <a:t/>
            </a:r>
          </a:p>
          <a:p xmlns:a="http://schemas.openxmlformats.org/drawingml/2006/main">
            <a:r>
              <a:t>Source: Report §3.5 and Appendix table tab:distinct-rate.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file includes quantized factors, scales, metadata, bit packing and zlib compression. At one bit and above, matrix rows use scalar quantization, with a sign and row-scale code at one bit. Below one bit per original adapter value, paired A/B rank directions can be dropped. The normalization remains the original adapter size. The base model is shared and excluded from the file budget. R* is a minimum over the tested codec ladder, so it is an attainable measured rate rather than a globally optimal description length. A rank change also changes the carrier; whole-file size and per-value rate should both be inspected when comparing architectures.</a:t>
            </a:r>
          </a:p>
          <a:p xmlns:a="http://schemas.openxmlformats.org/drawingml/2006/main">
            <a:r>
              <a:t/>
            </a:r>
          </a:p>
          <a:p xmlns:a="http://schemas.openxmlformats.org/drawingml/2006/main">
            <a:r>
              <a:t>Source: Report §3.3, Appendix Codec ladder and Adapter carrier and location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These metrics answer different questions and should not be substituted for one another. NLL uses a proper probabilistic score at every scored token, while exact match checks a final task answer. Retained gain normalizes either kind of behavior relative to a frozen baseline and raw adapter, so the underlying utility must always be stated. Exact state tests whether the entire finite ledger is correct. Boundary AUC measures ranking of labeled token gaps, whereas boundary F1 measures agreement of selected points. In particular, high AUC does not imply a boundary set useful for another objective, and 90 percent NLL-gain retention is not 90 percent answer accuracy.</a:t>
            </a:r>
          </a:p>
          <a:p xmlns:a="http://schemas.openxmlformats.org/drawingml/2006/main">
            <a:r>
              <a:t/>
            </a:r>
          </a:p>
          <a:p xmlns:a="http://schemas.openxmlformats.org/drawingml/2006/main">
            <a:r>
              <a:t>Source: Report §2.7, §3.3, §4.3,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A larger model judges nine edit types in concise correct SmolLM traces. After alignment and filtering, the analysis retains 1,761 spans across 58 traces. The latent detector reaches AUC 0.982 under a question-disjoint split, and 0.969 away from sentence endings. However, lexical TF–IDF reaches 0.892, so the result is not uniquely latent. Their transfer utilities to the four operational targets are minus 0.012, 0.043, 0.036, and 0.324. This supports the presence of learnable semantic structure, with limited cross-objective transfer. It does not establish a unique decomposition, and the judge labels are not a human gold standard.</a:t>
            </a:r>
          </a:p>
          <a:p xmlns:a="http://schemas.openxmlformats.org/drawingml/2006/main">
            <a:r>
              <a:t/>
            </a:r>
          </a:p>
          <a:p xmlns:a="http://schemas.openxmlformats.org/drawingml/2006/main">
            <a:r>
              <a:t>Source: Report §4.4, Judged semantic spans.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comparison removes exact data reuses and averages training seeds, leaving 22 distinct model–dataset conditions from seven families. Ten measures were screened. The adjusted permutation p value accounts for choosing the strongest candidate within that screen. RMSE leaves out one task family at a time, which is more informative than a pooled in-sample correlation, but still shares the same two model families and development campaign. The factors come from projected output-head gradients, not the full adapter Fisher. Effective rank has the lowest held-out RMSE here, and log volume has the strongest within-model ordering. The next step is to fix the measure and test unseen conditions prospectively.</a:t>
            </a:r>
          </a:p>
          <a:p xmlns:a="http://schemas.openxmlformats.org/drawingml/2006/main">
            <a:r>
              <a:t/>
            </a:r>
          </a:p>
          <a:p xmlns:a="http://schemas.openxmlformats.org/drawingml/2006/main">
            <a:r>
              <a:t>Source: Report §3.7,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592a0af83041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67eb0d44744e23" /><Relationship Type="http://schemas.openxmlformats.org/officeDocument/2006/relationships/slideLayout" Target="/ppt/slideLayouts/slideLayout1.xml" Id="Rb1b1ac14559341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b1ac14559341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3453fa200d49d5" /><Relationship Type="http://schemas.openxmlformats.org/officeDocument/2006/relationships/notesSlide" Target="/ppt/notesSlides/notesSlide1.xml" Id="R17c9257a88894a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b7d4f230684573" /><Relationship Type="http://schemas.openxmlformats.org/officeDocument/2006/relationships/notesSlide" Target="/ppt/notesSlides/notesSlide2.xml" Id="R0d78bc998fbf48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544fb51e544b59" /><Relationship Type="http://schemas.openxmlformats.org/officeDocument/2006/relationships/image" Target="/ppt/media/image.png" Id="R656e53c660f9480c" /><Relationship Type="http://schemas.openxmlformats.org/officeDocument/2006/relationships/notesSlide" Target="/ppt/notesSlides/notesSlide3.xml" Id="Rdea849960284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4abad141394a99" /><Relationship Type="http://schemas.openxmlformats.org/officeDocument/2006/relationships/image" Target="/ppt/media/image2.png" Id="R27177285e78343a9" /><Relationship Type="http://schemas.openxmlformats.org/officeDocument/2006/relationships/image" Target="/ppt/media/image3.png" Id="R6363460221d045f5" /><Relationship Type="http://schemas.openxmlformats.org/officeDocument/2006/relationships/notesSlide" Target="/ppt/notesSlides/notesSlide4.xml" Id="R93b0f1fc4a19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77a41149234106" /><Relationship Type="http://schemas.openxmlformats.org/officeDocument/2006/relationships/image" Target="/ppt/media/image4.png" Id="R77e52ed0c37b4440" /><Relationship Type="http://schemas.openxmlformats.org/officeDocument/2006/relationships/image" Target="/ppt/media/image5.png" Id="R46212b6a7eec4377" /><Relationship Type="http://schemas.openxmlformats.org/officeDocument/2006/relationships/notesSlide" Target="/ppt/notesSlides/notesSlide5.xml" Id="Rdab717c80a6b4c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6902eb28304fb1" /><Relationship Type="http://schemas.openxmlformats.org/officeDocument/2006/relationships/image" Target="/ppt/media/image6.png" Id="Rc5f251d7e4fc4b77" /><Relationship Type="http://schemas.openxmlformats.org/officeDocument/2006/relationships/notesSlide" Target="/ppt/notesSlides/notesSlide6.xml" Id="R0f0cc644000444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a50fd7591a48cd" /><Relationship Type="http://schemas.openxmlformats.org/officeDocument/2006/relationships/image" Target="/ppt/media/image7.png" Id="Re64a188dc26943d2" /><Relationship Type="http://schemas.openxmlformats.org/officeDocument/2006/relationships/notesSlide" Target="/ppt/notesSlides/notesSlide7.xml" Id="Rff33d96003474b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4f3c49e9aa4924" /><Relationship Type="http://schemas.openxmlformats.org/officeDocument/2006/relationships/image" Target="/ppt/media/image8.png" Id="R8b71c6287fa649f1" /><Relationship Type="http://schemas.openxmlformats.org/officeDocument/2006/relationships/image" Target="/ppt/media/image9.png" Id="Rb7d2c56296344dff" /><Relationship Type="http://schemas.openxmlformats.org/officeDocument/2006/relationships/image" Target="/ppt/media/image10.png" Id="R1aa09daffc424f57" /><Relationship Type="http://schemas.openxmlformats.org/officeDocument/2006/relationships/notesSlide" Target="/ppt/notesSlides/notesSlide8.xml" Id="R9f53eb81c98849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125e9dfa7864a26" /><Relationship Type="http://schemas.openxmlformats.org/officeDocument/2006/relationships/image" Target="/ppt/media/image11.png" Id="Rcf51b363ab8e4822" /><Relationship Type="http://schemas.openxmlformats.org/officeDocument/2006/relationships/image" Target="/ppt/media/image12.png" Id="Rd15afd522b7e4546" /><Relationship Type="http://schemas.openxmlformats.org/officeDocument/2006/relationships/notesSlide" Target="/ppt/notesSlides/notesSlide9.xml" Id="Rc4a27f5f9ffb4f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63e6165c09b49c2" /><Relationship Type="http://schemas.openxmlformats.org/officeDocument/2006/relationships/chart" Target="/ppt/slides/charts/chart1.xml" Id="R5cda43b6b7214123" /><Relationship Type="http://schemas.openxmlformats.org/officeDocument/2006/relationships/notesSlide" Target="/ppt/notesSlides/notesSlide10.xml" Id="R22fe6175e40d49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461920e81947c1" /><Relationship Type="http://schemas.openxmlformats.org/officeDocument/2006/relationships/chart" Target="/ppt/slides/charts/chart2.xml" Id="Rdf2b31a0008f4f05" /><Relationship Type="http://schemas.openxmlformats.org/officeDocument/2006/relationships/notesSlide" Target="/ppt/notesSlides/notesSlide11.xml" Id="Rda3bf2eb2fd742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ca52513069401f" /><Relationship Type="http://schemas.openxmlformats.org/officeDocument/2006/relationships/image" Target="/ppt/media/image13.png" Id="R2ed4a43097b445cc" /><Relationship Type="http://schemas.openxmlformats.org/officeDocument/2006/relationships/image" Target="/ppt/media/image14.png" Id="Rdac8fc69a5f5444d" /><Relationship Type="http://schemas.openxmlformats.org/officeDocument/2006/relationships/notesSlide" Target="/ppt/notesSlides/notesSlide12.xml" Id="R0bc1445d350947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9d990d8c1d46e1" /><Relationship Type="http://schemas.openxmlformats.org/officeDocument/2006/relationships/chart" Target="/ppt/slides/charts/chart3.xml" Id="Re032c1a565ea464c" /><Relationship Type="http://schemas.openxmlformats.org/officeDocument/2006/relationships/notesSlide" Target="/ppt/notesSlides/notesSlide13.xml" Id="R4501e95be90442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8fb4e4a1514012" /><Relationship Type="http://schemas.openxmlformats.org/officeDocument/2006/relationships/chart" Target="/ppt/slides/charts/chart4.xml" Id="R6159bb7197584e80" /><Relationship Type="http://schemas.openxmlformats.org/officeDocument/2006/relationships/notesSlide" Target="/ppt/notesSlides/notesSlide14.xml" Id="R3b90e3e8175341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4c963a74d34c6f" /><Relationship Type="http://schemas.openxmlformats.org/officeDocument/2006/relationships/notesSlide" Target="/ppt/notesSlides/notesSlide15.xml" Id="R3fcb94b679c548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a1530bc08f4b95" /><Relationship Type="http://schemas.openxmlformats.org/officeDocument/2006/relationships/image" Target="/ppt/media/image15.png" Id="Rd37a01e02dfb4c4f" /><Relationship Type="http://schemas.openxmlformats.org/officeDocument/2006/relationships/notesSlide" Target="/ppt/notesSlides/notesSlide16.xml" Id="Rd45c026edd504d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f0054827fb243f7" /><Relationship Type="http://schemas.openxmlformats.org/officeDocument/2006/relationships/chart" Target="/ppt/slides/charts/chart5.xml" Id="Rdc36400685dc437d" /><Relationship Type="http://schemas.openxmlformats.org/officeDocument/2006/relationships/notesSlide" Target="/ppt/notesSlides/notesSlide17.xml" Id="R62d5a23d4c4f42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af053a8cd94d36" /><Relationship Type="http://schemas.openxmlformats.org/officeDocument/2006/relationships/notesSlide" Target="/ppt/notesSlides/notesSlide18.xml" Id="Re03373b466944f0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ab4987669c4cf5" /><Relationship Type="http://schemas.openxmlformats.org/officeDocument/2006/relationships/notesSlide" Target="/ppt/notesSlides/notesSlide19.xml" Id="R5aa4292a2f8642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f53ff19da645dc" /><Relationship Type="http://schemas.openxmlformats.org/officeDocument/2006/relationships/notesSlide" Target="/ppt/notesSlides/notesSlide20.xml" Id="R9b1033d3b9e649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d84b2f80a84cad" /><Relationship Type="http://schemas.openxmlformats.org/officeDocument/2006/relationships/chart" Target="/ppt/slides/charts/chart6.xml" Id="Rbaab91098dcb4c70" /><Relationship Type="http://schemas.openxmlformats.org/officeDocument/2006/relationships/notesSlide" Target="/ppt/notesSlides/notesSlide21.xml" Id="Rc696b580b1e447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abb3f8d062a491c" /><Relationship Type="http://schemas.openxmlformats.org/officeDocument/2006/relationships/chart" Target="/ppt/slides/charts/chart7.xml" Id="R01494076c9164ad3" /><Relationship Type="http://schemas.openxmlformats.org/officeDocument/2006/relationships/notesSlide" Target="/ppt/notesSlides/notesSlide22.xml" Id="R7b71413e38c24f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537f89647554966" /><Relationship Type="http://schemas.openxmlformats.org/officeDocument/2006/relationships/notesSlide" Target="/ppt/notesSlides/notesSlide23.xml" Id="R93d3625139c646c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b6a800e30a4344" /><Relationship Type="http://schemas.openxmlformats.org/officeDocument/2006/relationships/notesSlide" Target="/ppt/notesSlides/notesSlide24.xml" Id="Rfe13e9bb8188411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00662e0ecfd4658" /><Relationship Type="http://schemas.openxmlformats.org/officeDocument/2006/relationships/chart" Target="/ppt/slides/charts/chart8.xml" Id="R6a6f902c18084433" /><Relationship Type="http://schemas.openxmlformats.org/officeDocument/2006/relationships/notesSlide" Target="/ppt/notesSlides/notesSlide25.xml" Id="R227e8316b09e4c5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7e0f1938694c38" /><Relationship Type="http://schemas.openxmlformats.org/officeDocument/2006/relationships/notesSlide" Target="/ppt/notesSlides/notesSlide26.xml" Id="R9204ef12c35a4f66" /></Relationships>
</file>

<file path=ppt/slides/charts/chart1.xml><?xml version="1.0" encoding="utf-8"?>
<c:chartSpace xmlns:c="http://schemas.openxmlformats.org/drawingml/2006/chart">
  <c:lang val="en-US"/>
  <c:chart>
    <c:plotArea>
      <c:barChart>
        <c:barDir val="col"/>
        <c:grouping val="clustered"/>
        <c:varyColors val="0"/>
        <c:ser>
          <c:idx val="0"/>
          <c:order val="0"/>
          <c:tx>
            <c:v>Retained task gain</c:v>
          </c:tx>
          <c:spPr>
            <a:solidFill xmlns:a="http://schemas.openxmlformats.org/drawingml/2006/main">
              <a:srgbClr val="007F7B"/>
            </a:solidFill>
            <a:ln xmlns:a="http://schemas.openxmlformats.org/drawingml/2006/main" w="0">
              <a:solidFill>
                <a:srgbClr val="007F7B"/>
              </a:solidFill>
            </a:ln>
          </c:spPr>
          <c:cat>
            <c:strLit>
              <c:ptCount val="2"/>
              <c:pt idx="0">
                <c:v>Uniform sign code</c:v>
              </c:pt>
              <c:pt idx="1">
                <c:v>Adaptive allocation</c:v>
              </c:pt>
            </c:strLit>
          </c:cat>
          <c:val>
            <c:numLit>
              <c:formatCode>0.0%</c:formatCode>
              <c:ptCount val="2"/>
              <c:pt idx="0">
                <c:v>0.857</c:v>
              </c:pt>
              <c:pt idx="1">
                <c:v>0.026</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Retained task gain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Mistral-7B</c:v>
          </c:tx>
          <c:spPr>
            <a:solidFill xmlns:a="http://schemas.openxmlformats.org/drawingml/2006/main">
              <a:srgbClr val="007F7B"/>
            </a:solidFill>
            <a:ln xmlns:a="http://schemas.openxmlformats.org/drawingml/2006/main" w="0">
              <a:solidFill>
                <a:srgbClr val="007F7B"/>
              </a:solidFill>
            </a:ln>
          </c:spPr>
          <c:cat>
            <c:strLit>
              <c:ptCount val="5"/>
              <c:pt idx="0">
                <c:v>Instruction</c:v>
              </c:pt>
              <c:pt idx="1">
                <c:v>Summary</c:v>
              </c:pt>
              <c:pt idx="2">
                <c:v>Math</c:v>
              </c:pt>
              <c:pt idx="3">
                <c:v>Code</c:v>
              </c:pt>
              <c:pt idx="4">
                <c:v>Dialogue</c:v>
              </c:pt>
            </c:strLit>
          </c:cat>
          <c:val>
            <c:numLit>
              <c:formatCode>0.000</c:formatCode>
              <c:ptCount val="5"/>
              <c:pt idx="0">
                <c:v>0.643</c:v>
              </c:pt>
              <c:pt idx="1">
                <c:v>0.652</c:v>
              </c:pt>
              <c:pt idx="2">
                <c:v>0.737</c:v>
              </c:pt>
              <c:pt idx="3">
                <c:v>0.891</c:v>
              </c:pt>
              <c:pt idx="4">
                <c:v>0.913</c:v>
              </c:pt>
            </c:numLit>
          </c:val>
        </c:ser>
        <c:ser>
          <c:idx val="1"/>
          <c:order val="1"/>
          <c:tx>
            <c:v>Qwen2.5-7B</c:v>
          </c:tx>
          <c:spPr>
            <a:solidFill xmlns:a="http://schemas.openxmlformats.org/drawingml/2006/main">
              <a:srgbClr val="C97433"/>
            </a:solidFill>
            <a:ln xmlns:a="http://schemas.openxmlformats.org/drawingml/2006/main" w="0">
              <a:solidFill>
                <a:srgbClr val="C97433"/>
              </a:solidFill>
            </a:ln>
          </c:spPr>
          <c:cat>
            <c:strLit>
              <c:ptCount val="5"/>
              <c:pt idx="0">
                <c:v>Instruction</c:v>
              </c:pt>
              <c:pt idx="1">
                <c:v>Summary</c:v>
              </c:pt>
              <c:pt idx="2">
                <c:v>Math</c:v>
              </c:pt>
              <c:pt idx="3">
                <c:v>Code</c:v>
              </c:pt>
              <c:pt idx="4">
                <c:v>Dialogue</c:v>
              </c:pt>
            </c:strLit>
          </c:cat>
          <c:val>
            <c:numLit>
              <c:formatCode>0.000</c:formatCode>
              <c:ptCount val="5"/>
              <c:pt idx="0">
                <c:v>0.774</c:v>
              </c:pt>
              <c:pt idx="1">
                <c:v>0.388</c:v>
              </c:pt>
              <c:pt idx="2">
                <c:v>0.411</c:v>
              </c:pt>
              <c:pt idx="3">
                <c:v>0.668</c:v>
              </c:pt>
              <c:pt idx="4">
                <c:v>1.176</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3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Own-objective detector AUC</c:v>
          </c:tx>
          <c:spPr>
            <a:solidFill xmlns:a="http://schemas.openxmlformats.org/drawingml/2006/main">
              <a:srgbClr val="C97433"/>
            </a:solidFill>
            <a:ln xmlns:a="http://schemas.openxmlformats.org/drawingml/2006/main" w="0">
              <a:solidFill>
                <a:srgbClr val="C97433"/>
              </a:solidFill>
            </a:ln>
          </c:spPr>
          <c:cat>
            <c:strLit>
              <c:ptCount val="4"/>
              <c:pt idx="0">
                <c:v>Answer</c:v>
              </c:pt>
              <c:pt idx="1">
                <c:v>Symbolic update</c:v>
              </c:pt>
              <c:pt idx="2">
                <c:v>Correctness</c:v>
              </c:pt>
              <c:pt idx="3">
                <c:v>PCA geometry</c:v>
              </c:pt>
            </c:strLit>
          </c:cat>
          <c:val>
            <c:numLit>
              <c:formatCode>0.000</c:formatCode>
              <c:ptCount val="4"/>
              <c:pt idx="0">
                <c:v>0.999</c:v>
              </c:pt>
              <c:pt idx="1">
                <c:v>0.984</c:v>
              </c:pt>
              <c:pt idx="2">
                <c:v>0.849</c:v>
              </c:pt>
              <c:pt idx="3">
                <c:v>0.868</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Detector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Final-answer accuracy</c:v>
          </c:tx>
          <c:spPr>
            <a:solidFill xmlns:a="http://schemas.openxmlformats.org/drawingml/2006/main">
              <a:srgbClr val="C97433"/>
            </a:solidFill>
            <a:ln xmlns:a="http://schemas.openxmlformats.org/drawingml/2006/main" w="0">
              <a:solidFill>
                <a:srgbClr val="C97433"/>
              </a:solidFill>
            </a:ln>
          </c:spPr>
          <c:cat>
            <c:strLit>
              <c:ptCount val="3"/>
              <c:pt idx="0">
                <c:v>One-pass lookup</c:v>
              </c:pt>
              <c:pt idx="1">
                <c:v>Predicted-state handoff</c:v>
              </c:pt>
              <c:pt idx="2">
                <c:v>Correct-state handoff</c:v>
              </c:pt>
            </c:strLit>
          </c:cat>
          <c:val>
            <c:numLit>
              <c:formatCode>0.00%</c:formatCode>
              <c:ptCount val="3"/>
              <c:pt idx="0">
                <c:v>0.1344</c:v>
              </c:pt>
              <c:pt idx="1">
                <c:v>0.7698</c:v>
              </c:pt>
              <c:pt idx="2">
                <c:v>1</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2"/>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Final-answer accuracy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Reasoning-span gain</c:v>
          </c:tx>
          <c:spPr>
            <a:solidFill xmlns:a="http://schemas.openxmlformats.org/drawingml/2006/main">
              <a:srgbClr val="007F7B"/>
            </a:solidFill>
            <a:ln xmlns:a="http://schemas.openxmlformats.org/drawingml/2006/main" w="0">
              <a:solidFill>
                <a:srgbClr val="007F7B"/>
              </a:solidFill>
            </a:ln>
          </c:spPr>
          <c:cat>
            <c:strLit>
              <c:ptCount val="2"/>
              <c:pt idx="0">
                <c:v>Mistral-7B</c:v>
              </c:pt>
              <c:pt idx="1">
                <c:v>Qwen2.5-7B</c:v>
              </c:pt>
            </c:strLit>
          </c:cat>
          <c:val>
            <c:numLit>
              <c:formatCode>0.000</c:formatCode>
              <c:ptCount val="2"/>
              <c:pt idx="0">
                <c:v>1.07</c:v>
              </c:pt>
              <c:pt idx="1">
                <c:v>0.471</c:v>
              </c:pt>
            </c:numLit>
          </c:val>
        </c:ser>
        <c:ser>
          <c:idx val="1"/>
          <c:order val="1"/>
          <c:tx>
            <c:v>Answer-span gain</c:v>
          </c:tx>
          <c:spPr>
            <a:solidFill xmlns:a="http://schemas.openxmlformats.org/drawingml/2006/main">
              <a:srgbClr val="C97433"/>
            </a:solidFill>
            <a:ln xmlns:a="http://schemas.openxmlformats.org/drawingml/2006/main" w="0">
              <a:solidFill>
                <a:srgbClr val="C97433"/>
              </a:solidFill>
            </a:ln>
          </c:spPr>
          <c:cat>
            <c:strLit>
              <c:ptCount val="2"/>
              <c:pt idx="0">
                <c:v>Mistral-7B</c:v>
              </c:pt>
              <c:pt idx="1">
                <c:v>Qwen2.5-7B</c:v>
              </c:pt>
            </c:strLit>
          </c:cat>
          <c:val>
            <c:numLit>
              <c:formatCode>0.000</c:formatCode>
              <c:ptCount val="2"/>
              <c:pt idx="0">
                <c:v>0.578</c:v>
              </c:pt>
              <c:pt idx="1">
                <c:v>0.575</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Regret at horizon 32</c:v>
          </c:tx>
          <c:spPr>
            <a:solidFill xmlns:a="http://schemas.openxmlformats.org/drawingml/2006/main">
              <a:srgbClr val="C97433"/>
            </a:solidFill>
            <a:ln xmlns:a="http://schemas.openxmlformats.org/drawingml/2006/main" w="0">
              <a:solidFill>
                <a:srgbClr val="C97433"/>
              </a:solidFill>
            </a:ln>
          </c:spPr>
          <c:cat>
            <c:strLit>
              <c:ptCount val="2"/>
              <c:pt idx="0">
                <c:v>Full history</c:v>
              </c:pt>
              <c:pt idx="1">
                <c:v>12-bit text suffix</c:v>
              </c:pt>
            </c:strLit>
          </c:cat>
          <c:val>
            <c:numLit>
              <c:formatCode>0.00</c:formatCode>
              <c:ptCount val="2"/>
              <c:pt idx="0">
                <c:v>2.2</c:v>
              </c:pt>
              <c:pt idx="1">
                <c:v>30.91</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35"/>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Regret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barChart>
        <c:barDir val="col"/>
        <c:grouping val="clustered"/>
        <c:varyColors val="0"/>
        <c:ser>
          <c:idx val="0"/>
          <c:order val="0"/>
          <c:tx>
            <c:v>Mean R*(0.90)</c:v>
          </c:tx>
          <c:spPr>
            <a:solidFill xmlns:a="http://schemas.openxmlformats.org/drawingml/2006/main">
              <a:srgbClr val="007F7B"/>
            </a:solidFill>
            <a:ln xmlns:a="http://schemas.openxmlformats.org/drawingml/2006/main" w="0">
              <a:solidFill>
                <a:srgbClr val="007F7B"/>
              </a:solidFill>
            </a:ln>
          </c:spPr>
          <c:cat>
            <c:strLit>
              <c:ptCount val="5"/>
              <c:pt idx="0">
                <c:v>2,000</c:v>
              </c:pt>
              <c:pt idx="1">
                <c:v>4,000</c:v>
              </c:pt>
              <c:pt idx="2">
                <c:v>8,000</c:v>
              </c:pt>
              <c:pt idx="3">
                <c:v>16,000</c:v>
              </c:pt>
              <c:pt idx="4">
                <c:v>32,000</c:v>
              </c:pt>
            </c:strLit>
          </c:cat>
          <c:val>
            <c:numLit>
              <c:formatCode>0.000</c:formatCode>
              <c:ptCount val="5"/>
              <c:pt idx="0">
                <c:v>0.645</c:v>
              </c:pt>
              <c:pt idx="1">
                <c:v>0.74</c:v>
              </c:pt>
              <c:pt idx="2">
                <c:v>0.709</c:v>
              </c:pt>
              <c:pt idx="3">
                <c:v>0.832</c:v>
              </c:pt>
              <c:pt idx="4">
                <c:v>1.002</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barChart>
        <c:barDir val="col"/>
        <c:grouping val="clustered"/>
        <c:varyColors val="0"/>
        <c:ser>
          <c:idx val="0"/>
          <c:order val="0"/>
          <c:tx>
            <c:v>Held-out boundary AUC</c:v>
          </c:tx>
          <c:spPr>
            <a:solidFill xmlns:a="http://schemas.openxmlformats.org/drawingml/2006/main">
              <a:srgbClr val="C97433"/>
            </a:solidFill>
            <a:ln xmlns:a="http://schemas.openxmlformats.org/drawingml/2006/main" w="0">
              <a:solidFill>
                <a:srgbClr val="C97433"/>
              </a:solidFill>
            </a:ln>
          </c:spPr>
          <c:cat>
            <c:strLit>
              <c:ptCount val="3"/>
              <c:pt idx="0">
                <c:v>Latent detector</c:v>
              </c:pt>
              <c:pt idx="1">
                <c:v>Away from sentence ends</c:v>
              </c:pt>
              <c:pt idx="2">
                <c:v>Lexical TF–IDF</c:v>
              </c:pt>
            </c:strLit>
          </c:cat>
          <c:val>
            <c:numLit>
              <c:formatCode>0.000</c:formatCode>
              <c:ptCount val="3"/>
              <c:pt idx="0">
                <c:v>0.982</c:v>
              </c:pt>
              <c:pt idx="1">
                <c:v>0.969</c:v>
              </c:pt>
              <c:pt idx="2">
                <c:v>0.892</c:v>
              </c:pt>
            </c:numLit>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Boundary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AEFC8B-99BA-443B-AE54-A1305882AB8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MASTER’S THESIS · IASD · PSL · 2026</a:t>
            </a:r>
          </a:p>
        </p:txBody>
      </p:sp>
      <p:sp>
        <p:nvSpPr>
          <p:cNvPr id="2" name="">
            <a:extLst xmlns:a="http://schemas.openxmlformats.org/drawingml/2006/main">
              <a:ext uri="{FF2B5EF4-FFF2-40B4-BE49-F238E27FC236}">
                <a16:creationId xmlns:a16="http://schemas.microsoft.com/office/drawing/2014/main" id="{BB9EDCAB-9C30-4342-9455-6E878143D323}"/>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534CF64-A159-42EB-B4C4-DE0DD816F22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1EDDF5-4260-4C78-A239-75EC200B7308}"/>
              </a:ext>
            </a:extLst>
          </p:cNvPr>
          <p:cNvSpPr>
            <a:spLocks xmlns:a="http://schemas.openxmlformats.org/drawingml/2006/main" noGrp="1"/>
          </p:cNvSpPr>
          <p:nvPr/>
        </p:nvSpPr>
        <p:spPr>
          <a:xfrm xmlns:a="http://schemas.openxmlformats.org/drawingml/2006/main">
            <a:off x="609600" y="133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Information constraints</a:t>
            </a:r>
          </a:p>
        </p:txBody>
      </p:sp>
      <p:sp>
        <p:nvSpPr>
          <p:cNvPr id="5" name="">
            <a:extLst xmlns:a="http://schemas.openxmlformats.org/drawingml/2006/main">
              <a:ext uri="{FF2B5EF4-FFF2-40B4-BE49-F238E27FC236}">
                <a16:creationId xmlns:a16="http://schemas.microsoft.com/office/drawing/2014/main" id="{081FC23B-8AA3-4849-BE7C-28D149CBEDA7}"/>
              </a:ext>
            </a:extLst>
          </p:cNvPr>
          <p:cNvSpPr>
            <a:spLocks xmlns:a="http://schemas.openxmlformats.org/drawingml/2006/main" noGrp="1"/>
          </p:cNvSpPr>
          <p:nvPr/>
        </p:nvSpPr>
        <p:spPr>
          <a:xfrm xmlns:a="http://schemas.openxmlformats.org/drawingml/2006/main">
            <a:off x="609600" y="2238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 fine-tuning and</a:t>
            </a:r>
          </a:p>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reasoning language models</a:t>
            </a:r>
          </a:p>
        </p:txBody>
      </p:sp>
      <p:sp>
        <p:nvSpPr>
          <p:cNvPr id="6" name="">
            <a:extLst xmlns:a="http://schemas.openxmlformats.org/drawingml/2006/main">
              <a:ext uri="{FF2B5EF4-FFF2-40B4-BE49-F238E27FC236}">
                <a16:creationId xmlns:a16="http://schemas.microsoft.com/office/drawing/2014/main" id="{66DD7D94-7512-4F59-BD0A-2145F4F1C005}"/>
              </a:ext>
            </a:extLst>
          </p:cNvPr>
          <p:cNvSpPr>
            <a:spLocks xmlns:a="http://schemas.openxmlformats.org/drawingml/2006/main" noGrp="1"/>
          </p:cNvSpPr>
          <p:nvPr/>
        </p:nvSpPr>
        <p:spPr>
          <a:xfrm xmlns:a="http://schemas.openxmlformats.org/drawingml/2006/main">
            <a:off x="609600" y="4314825"/>
            <a:ext cx="104775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20360C-AED6-49CE-84B7-51BD1E990E29}"/>
              </a:ext>
            </a:extLst>
          </p:cNvPr>
          <p:cNvSpPr>
            <a:spLocks xmlns:a="http://schemas.openxmlformats.org/drawingml/2006/main" noGrp="1"/>
          </p:cNvSpPr>
          <p:nvPr/>
        </p:nvSpPr>
        <p:spPr>
          <a:xfrm xmlns:a="http://schemas.openxmlformats.org/drawingml/2006/main">
            <a:off x="609600" y="4667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Joey David</a:t>
            </a:r>
          </a:p>
        </p:txBody>
      </p:sp>
      <p:sp>
        <p:nvSpPr>
          <p:cNvPr id="8" name="">
            <a:extLst xmlns:a="http://schemas.openxmlformats.org/drawingml/2006/main">
              <a:ext uri="{FF2B5EF4-FFF2-40B4-BE49-F238E27FC236}">
                <a16:creationId xmlns:a16="http://schemas.microsoft.com/office/drawing/2014/main" id="{EE2E7FDD-1364-42F8-ADE4-5B135794D9DE}"/>
              </a:ext>
            </a:extLst>
          </p:cNvPr>
          <p:cNvSpPr>
            <a:spLocks xmlns:a="http://schemas.openxmlformats.org/drawingml/2006/main" noGrp="1"/>
          </p:cNvSpPr>
          <p:nvPr/>
        </p:nvSpPr>
        <p:spPr>
          <a:xfrm xmlns:a="http://schemas.openxmlformats.org/drawingml/2006/main">
            <a:off x="609600" y="5162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5CBD0"/>
                </a:solidFill>
                <a:latin typeface="Helvetica Neue"/>
                <a:ea typeface="Helvetica Neue"/>
                <a:cs typeface="Helvetica Neue"/>
              </a:defRPr>
            </a:pPr>
            <a:r>
              <a:rPr sz="1800" b="0">
                <a:solidFill>
                  <a:srgbClr val="B5CBD0"/>
                </a:solidFill>
                <a:latin typeface="Helvetica Neue"/>
                <a:ea typeface="Helvetica Neue"/>
                <a:cs typeface="Helvetica Neue"/>
              </a:rPr>
              <a:t>MILES, LAMSADE · Université Paris Dauphine–PSL</a:t>
            </a:r>
          </a:p>
        </p:txBody>
      </p:sp>
      <p:sp>
        <p:nvSpPr>
          <p:cNvPr id="9" name="">
            <a:extLst xmlns:a="http://schemas.openxmlformats.org/drawingml/2006/main">
              <a:ext uri="{FF2B5EF4-FFF2-40B4-BE49-F238E27FC236}">
                <a16:creationId xmlns:a16="http://schemas.microsoft.com/office/drawing/2014/main" id="{5DB6E6B0-03E9-4C23-B405-86AF8B9D79EB}"/>
              </a:ext>
            </a:extLst>
          </p:cNvPr>
          <p:cNvSpPr>
            <a:spLocks xmlns:a="http://schemas.openxmlformats.org/drawingml/2006/main" noGrp="1"/>
          </p:cNvSpPr>
          <p:nvPr/>
        </p:nvSpPr>
        <p:spPr>
          <a:xfrm xmlns:a="http://schemas.openxmlformats.org/drawingml/2006/main">
            <a:off x="609600" y="5553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5CBD0"/>
                </a:solidFill>
                <a:latin typeface="Helvetica Neue"/>
                <a:ea typeface="Helvetica Neue"/>
                <a:cs typeface="Helvetica Neue"/>
              </a:defRPr>
            </a:pPr>
            <a:r>
              <a:rPr sz="1650" b="0">
                <a:solidFill>
                  <a:srgbClr val="B5CBD0"/>
                </a:solidFill>
                <a:latin typeface="Helvetica Neue"/>
                <a:ea typeface="Helvetica Neue"/>
                <a:cs typeface="Helvetica Neue"/>
              </a:rPr>
              <a:t>Supervision: Paul Caillon and Alexandre Allauzen</a:t>
            </a:r>
          </a:p>
        </p:txBody>
      </p:sp>
    </p:spTree>
    <p:extLst>
      <p:ext uri="{BB962C8B-B14F-4D97-AF65-F5344CB8AC3E}">
        <p14:creationId xmlns:p14="http://schemas.microsoft.com/office/powerpoint/2010/main" val="17125475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75B6597-E3F2-4F9F-A484-38112684B076}"/>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much information must survive?</a:t>
            </a:r>
          </a:p>
        </p:txBody>
      </p:sp>
      <p:sp>
        <p:nvSpPr>
          <p:cNvPr id="2" name="">
            <a:extLst xmlns:a="http://schemas.openxmlformats.org/drawingml/2006/main">
              <a:ext uri="{FF2B5EF4-FFF2-40B4-BE49-F238E27FC236}">
                <a16:creationId xmlns:a16="http://schemas.microsoft.com/office/drawing/2014/main" id="{DEC328E7-13E6-47FA-B6C2-21E30CE1819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RESEARCH QUESTION</a:t>
            </a:r>
          </a:p>
        </p:txBody>
      </p:sp>
      <p:sp>
        <p:nvSpPr>
          <p:cNvPr id="3" name="">
            <a:extLst xmlns:a="http://schemas.openxmlformats.org/drawingml/2006/main">
              <a:ext uri="{FF2B5EF4-FFF2-40B4-BE49-F238E27FC236}">
                <a16:creationId xmlns:a16="http://schemas.microsoft.com/office/drawing/2014/main" id="{C74A1B98-555F-40A0-9749-0A2D72FAFD0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0FD68D4-AD6B-4025-9C88-8423FEBC6BD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589BFC-625D-4C80-916E-65CB6DB30D0C}"/>
              </a:ext>
            </a:extLst>
          </p:cNvPr>
          <p:cNvSpPr>
            <a:spLocks xmlns:a="http://schemas.openxmlformats.org/drawingml/2006/main" noGrp="1"/>
          </p:cNvSpPr>
          <p:nvPr/>
        </p:nvSpPr>
        <p:spPr>
          <a:xfrm xmlns:a="http://schemas.openxmlformats.org/drawingml/2006/main">
            <a:off x="6096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344B470E-F7DD-49E8-B4BA-78BF022A9712}"/>
              </a:ext>
            </a:extLst>
          </p:cNvPr>
          <p:cNvSpPr>
            <a:spLocks xmlns:a="http://schemas.openxmlformats.org/drawingml/2006/main" noGrp="1"/>
          </p:cNvSpPr>
          <p:nvPr/>
        </p:nvSpPr>
        <p:spPr>
          <a:xfrm xmlns:a="http://schemas.openxmlformats.org/drawingml/2006/main">
            <a:off x="609600" y="24574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 compressed update</a:t>
            </a:r>
          </a:p>
        </p:txBody>
      </p:sp>
      <p:sp>
        <p:nvSpPr>
          <p:cNvPr id="7" name="">
            <a:extLst xmlns:a="http://schemas.openxmlformats.org/drawingml/2006/main">
              <a:ext uri="{FF2B5EF4-FFF2-40B4-BE49-F238E27FC236}">
                <a16:creationId xmlns:a16="http://schemas.microsoft.com/office/drawing/2014/main" id="{FABF78FD-B98D-4FC1-A96B-A5AAD2476681}"/>
              </a:ext>
            </a:extLst>
          </p:cNvPr>
          <p:cNvSpPr>
            <a:spLocks xmlns:a="http://schemas.openxmlformats.org/drawingml/2006/main" noGrp="1"/>
          </p:cNvSpPr>
          <p:nvPr/>
        </p:nvSpPr>
        <p:spPr>
          <a:xfrm xmlns:a="http://schemas.openxmlformats.org/drawingml/2006/main">
            <a:off x="609600" y="313372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a fixed model receive</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to retain a learned behavior?</a:t>
            </a:r>
          </a:p>
        </p:txBody>
      </p:sp>
      <p:sp>
        <p:nvSpPr>
          <p:cNvPr id="8" name="">
            <a:extLst xmlns:a="http://schemas.openxmlformats.org/drawingml/2006/main">
              <a:ext uri="{FF2B5EF4-FFF2-40B4-BE49-F238E27FC236}">
                <a16:creationId xmlns:a16="http://schemas.microsoft.com/office/drawing/2014/main" id="{EABF226F-08B4-47C0-B7C8-F9370BC2610C}"/>
              </a:ext>
            </a:extLst>
          </p:cNvPr>
          <p:cNvSpPr>
            <a:spLocks xmlns:a="http://schemas.openxmlformats.org/drawingml/2006/main" noGrp="1"/>
          </p:cNvSpPr>
          <p:nvPr/>
        </p:nvSpPr>
        <p:spPr>
          <a:xfrm xmlns:a="http://schemas.openxmlformats.org/drawingml/2006/main">
            <a:off x="5905500" y="1952625"/>
            <a:ext cx="19050" cy="228600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7E5D8F-BC68-41AC-9590-1F6AC188FCC3}"/>
              </a:ext>
            </a:extLst>
          </p:cNvPr>
          <p:cNvSpPr>
            <a:spLocks xmlns:a="http://schemas.openxmlformats.org/drawingml/2006/main" noGrp="1"/>
          </p:cNvSpPr>
          <p:nvPr/>
        </p:nvSpPr>
        <p:spPr>
          <a:xfrm xmlns:a="http://schemas.openxmlformats.org/drawingml/2006/main">
            <a:off x="66675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10" name="">
            <a:extLst xmlns:a="http://schemas.openxmlformats.org/drawingml/2006/main">
              <a:ext uri="{FF2B5EF4-FFF2-40B4-BE49-F238E27FC236}">
                <a16:creationId xmlns:a16="http://schemas.microsoft.com/office/drawing/2014/main" id="{8832B1DF-6BF1-406C-BD15-87F3453161B9}"/>
              </a:ext>
            </a:extLst>
          </p:cNvPr>
          <p:cNvSpPr>
            <a:spLocks xmlns:a="http://schemas.openxmlformats.org/drawingml/2006/main" noGrp="1"/>
          </p:cNvSpPr>
          <p:nvPr/>
        </p:nvSpPr>
        <p:spPr>
          <a:xfrm xmlns:a="http://schemas.openxmlformats.org/drawingml/2006/main">
            <a:off x="6667500" y="2457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An intermediate state</a:t>
            </a:r>
          </a:p>
        </p:txBody>
      </p:sp>
      <p:sp>
        <p:nvSpPr>
          <p:cNvPr id="11" name="">
            <a:extLst xmlns:a="http://schemas.openxmlformats.org/drawingml/2006/main">
              <a:ext uri="{FF2B5EF4-FFF2-40B4-BE49-F238E27FC236}">
                <a16:creationId xmlns:a16="http://schemas.microsoft.com/office/drawing/2014/main" id="{C72C74AC-4746-4328-B005-22435E8616E2}"/>
              </a:ext>
            </a:extLst>
          </p:cNvPr>
          <p:cNvSpPr>
            <a:spLocks xmlns:a="http://schemas.openxmlformats.org/drawingml/2006/main" noGrp="1"/>
          </p:cNvSpPr>
          <p:nvPr/>
        </p:nvSpPr>
        <p:spPr>
          <a:xfrm xmlns:a="http://schemas.openxmlformats.org/drawingml/2006/main">
            <a:off x="6667500" y="31337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the next computation</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receive to continue correctly?</a:t>
            </a:r>
          </a:p>
        </p:txBody>
      </p:sp>
      <p:sp>
        <p:nvSpPr>
          <p:cNvPr id="12" name="">
            <a:extLst xmlns:a="http://schemas.openxmlformats.org/drawingml/2006/main">
              <a:ext uri="{FF2B5EF4-FFF2-40B4-BE49-F238E27FC236}">
                <a16:creationId xmlns:a16="http://schemas.microsoft.com/office/drawing/2014/main" id="{D229C120-76EF-4FAC-9BA0-26FF9AF566F7}"/>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E82413-6B2A-4DD2-BE08-A1B2B20BAC83}"/>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Receiver, task, and update rule define what is useful.</a:t>
            </a:r>
          </a:p>
        </p:txBody>
      </p:sp>
    </p:spTree>
    <p:extLst>
      <p:ext uri="{BB962C8B-B14F-4D97-AF65-F5344CB8AC3E}">
        <p14:creationId xmlns:p14="http://schemas.microsoft.com/office/powerpoint/2010/main" val="5456659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A8258D-C6F7-49EB-AE31-E5E4F271386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Autoregressive language models</a:t>
            </a:r>
          </a:p>
        </p:txBody>
      </p:sp>
      <p:sp>
        <p:nvSpPr>
          <p:cNvPr id="2" name="">
            <a:extLst xmlns:a="http://schemas.openxmlformats.org/drawingml/2006/main">
              <a:ext uri="{FF2B5EF4-FFF2-40B4-BE49-F238E27FC236}">
                <a16:creationId xmlns:a16="http://schemas.microsoft.com/office/drawing/2014/main" id="{125D957A-E77B-4DB0-B939-B721504F8E9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LANGUAGE MODELS</a:t>
            </a:r>
          </a:p>
        </p:txBody>
      </p:sp>
      <p:sp>
        <p:nvSpPr>
          <p:cNvPr id="3" name="">
            <a:extLst xmlns:a="http://schemas.openxmlformats.org/drawingml/2006/main">
              <a:ext uri="{FF2B5EF4-FFF2-40B4-BE49-F238E27FC236}">
                <a16:creationId xmlns:a16="http://schemas.microsoft.com/office/drawing/2014/main" id="{D2A2E3AB-5EBC-46A0-A852-5EA077A14EDA}"/>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4FCB05C-7740-422D-8FCD-C1F162049F71}"/>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56e53c660f9480c"/>
          <a:stretch xmlns:a="http://schemas.openxmlformats.org/drawingml/2006/main"/>
        </p:blipFill>
        <p:spPr>
          <a:xfrm xmlns:a="http://schemas.openxmlformats.org/drawingml/2006/main">
            <a:off x="3961289" y="1752600"/>
            <a:ext cx="3297873" cy="9906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97D9AB-0890-4445-8FB9-12ABA4433874}"/>
              </a:ext>
            </a:extLst>
          </p:cNvPr>
          <p:cNvSpPr>
            <a:spLocks xmlns:a="http://schemas.openxmlformats.org/drawingml/2006/main" noGrp="1"/>
          </p:cNvSpPr>
          <p:nvPr/>
        </p:nvSpPr>
        <p:spPr>
          <a:xfrm xmlns:a="http://schemas.openxmlformats.org/drawingml/2006/main">
            <a:off x="609600" y="3333750"/>
            <a:ext cx="26193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431875-7A3C-4B94-82C6-0BA74D1BA4B7}"/>
              </a:ext>
            </a:extLst>
          </p:cNvPr>
          <p:cNvSpPr>
            <a:spLocks xmlns:a="http://schemas.openxmlformats.org/drawingml/2006/main" noGrp="1"/>
          </p:cNvSpPr>
          <p:nvPr/>
        </p:nvSpPr>
        <p:spPr>
          <a:xfrm xmlns:a="http://schemas.openxmlformats.org/drawingml/2006/main">
            <a:off x="752475" y="3409950"/>
            <a:ext cx="2333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Prefix tokens</a:t>
            </a:r>
          </a:p>
        </p:txBody>
      </p:sp>
      <p:sp>
        <p:nvSpPr>
          <p:cNvPr id="8" name="">
            <a:extLst xmlns:a="http://schemas.openxmlformats.org/drawingml/2006/main">
              <a:ext uri="{FF2B5EF4-FFF2-40B4-BE49-F238E27FC236}">
                <a16:creationId xmlns:a16="http://schemas.microsoft.com/office/drawing/2014/main" id="{C1EC7F5B-72E2-40DE-A3CF-A1A881BD5A17}"/>
              </a:ext>
            </a:extLst>
          </p:cNvPr>
          <p:cNvSpPr>
            <a:spLocks xmlns:a="http://schemas.openxmlformats.org/drawingml/2006/main" noGrp="1"/>
          </p:cNvSpPr>
          <p:nvPr/>
        </p:nvSpPr>
        <p:spPr>
          <a:xfrm xmlns:a="http://schemas.openxmlformats.org/drawingml/2006/main">
            <a:off x="33337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49A87A-7F70-417E-81E1-922ADE655886}"/>
              </a:ext>
            </a:extLst>
          </p:cNvPr>
          <p:cNvSpPr>
            <a:spLocks xmlns:a="http://schemas.openxmlformats.org/drawingml/2006/main" noGrp="1"/>
          </p:cNvSpPr>
          <p:nvPr/>
        </p:nvSpPr>
        <p:spPr>
          <a:xfrm xmlns:a="http://schemas.openxmlformats.org/drawingml/2006/main">
            <a:off x="39052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93A1E3-6D45-4803-982B-9D2CDB34C945}"/>
              </a:ext>
            </a:extLst>
          </p:cNvPr>
          <p:cNvSpPr>
            <a:spLocks xmlns:a="http://schemas.openxmlformats.org/drawingml/2006/main" noGrp="1"/>
          </p:cNvSpPr>
          <p:nvPr/>
        </p:nvSpPr>
        <p:spPr>
          <a:xfrm xmlns:a="http://schemas.openxmlformats.org/drawingml/2006/main">
            <a:off x="4143375" y="3333750"/>
            <a:ext cx="328612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6C2D9B-BC07-40A4-ADA9-2A035EA1F105}"/>
              </a:ext>
            </a:extLst>
          </p:cNvPr>
          <p:cNvSpPr>
            <a:spLocks xmlns:a="http://schemas.openxmlformats.org/drawingml/2006/main" noGrp="1"/>
          </p:cNvSpPr>
          <p:nvPr/>
        </p:nvSpPr>
        <p:spPr>
          <a:xfrm xmlns:a="http://schemas.openxmlformats.org/drawingml/2006/main">
            <a:off x="4286250" y="3409950"/>
            <a:ext cx="300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Transformer</a:t>
            </a:r>
          </a:p>
        </p:txBody>
      </p:sp>
      <p:sp>
        <p:nvSpPr>
          <p:cNvPr id="12" name="">
            <a:extLst xmlns:a="http://schemas.openxmlformats.org/drawingml/2006/main">
              <a:ext uri="{FF2B5EF4-FFF2-40B4-BE49-F238E27FC236}">
                <a16:creationId xmlns:a16="http://schemas.microsoft.com/office/drawing/2014/main" id="{4CF10FB3-4E99-47A2-AAE3-2F5AEE887B34}"/>
              </a:ext>
            </a:extLst>
          </p:cNvPr>
          <p:cNvSpPr>
            <a:spLocks xmlns:a="http://schemas.openxmlformats.org/drawingml/2006/main" noGrp="1"/>
          </p:cNvSpPr>
          <p:nvPr/>
        </p:nvSpPr>
        <p:spPr>
          <a:xfrm xmlns:a="http://schemas.openxmlformats.org/drawingml/2006/main">
            <a:off x="75628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5CDFCB-65B2-4D75-AD9E-CA266CB00EA3}"/>
              </a:ext>
            </a:extLst>
          </p:cNvPr>
          <p:cNvSpPr>
            <a:spLocks xmlns:a="http://schemas.openxmlformats.org/drawingml/2006/main" noGrp="1"/>
          </p:cNvSpPr>
          <p:nvPr/>
        </p:nvSpPr>
        <p:spPr>
          <a:xfrm xmlns:a="http://schemas.openxmlformats.org/drawingml/2006/main">
            <a:off x="81343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35DBBB-0A34-4125-A7C7-2E94BA9867AA}"/>
              </a:ext>
            </a:extLst>
          </p:cNvPr>
          <p:cNvSpPr>
            <a:spLocks xmlns:a="http://schemas.openxmlformats.org/drawingml/2006/main" noGrp="1"/>
          </p:cNvSpPr>
          <p:nvPr/>
        </p:nvSpPr>
        <p:spPr>
          <a:xfrm xmlns:a="http://schemas.openxmlformats.org/drawingml/2006/main">
            <a:off x="8382000" y="3333750"/>
            <a:ext cx="31908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1D7A41E-01E3-4C68-970C-1D18EAC04F44}"/>
              </a:ext>
            </a:extLst>
          </p:cNvPr>
          <p:cNvSpPr>
            <a:spLocks xmlns:a="http://schemas.openxmlformats.org/drawingml/2006/main" noGrp="1"/>
          </p:cNvSpPr>
          <p:nvPr/>
        </p:nvSpPr>
        <p:spPr>
          <a:xfrm xmlns:a="http://schemas.openxmlformats.org/drawingml/2006/main">
            <a:off x="8524875" y="3409950"/>
            <a:ext cx="2905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Next-token distribution</a:t>
            </a:r>
          </a:p>
        </p:txBody>
      </p:sp>
      <p:sp>
        <p:nvSpPr>
          <p:cNvPr id="16" name="">
            <a:extLst xmlns:a="http://schemas.openxmlformats.org/drawingml/2006/main">
              <a:ext uri="{FF2B5EF4-FFF2-40B4-BE49-F238E27FC236}">
                <a16:creationId xmlns:a16="http://schemas.microsoft.com/office/drawing/2014/main" id="{8AFDECFA-3632-4ACD-A63D-F78D2AA459E5}"/>
              </a:ext>
            </a:extLst>
          </p:cNvPr>
          <p:cNvSpPr>
            <a:spLocks xmlns:a="http://schemas.openxmlformats.org/drawingml/2006/main" noGrp="1"/>
          </p:cNvSpPr>
          <p:nvPr/>
        </p:nvSpPr>
        <p:spPr>
          <a:xfrm xmlns:a="http://schemas.openxmlformats.org/drawingml/2006/main">
            <a:off x="4191000" y="44386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77079"/>
                </a:solidFill>
                <a:latin typeface="Helvetica Neue"/>
                <a:ea typeface="Helvetica Neue"/>
                <a:cs typeface="Helvetica Neue"/>
              </a:defRPr>
            </a:pPr>
            <a:r>
              <a:rPr sz="1800" b="0">
                <a:solidFill>
                  <a:srgbClr val="577079"/>
                </a:solidFill>
                <a:latin typeface="Helvetica Neue"/>
                <a:ea typeface="Helvetica Neue"/>
                <a:cs typeface="Helvetica Neue"/>
              </a:rPr>
              <a:t>Hidden vectors hₜ at each layer</a:t>
            </a:r>
          </a:p>
        </p:txBody>
      </p:sp>
      <p:sp>
        <p:nvSpPr>
          <p:cNvPr id="17" name="">
            <a:extLst xmlns:a="http://schemas.openxmlformats.org/drawingml/2006/main">
              <a:ext uri="{FF2B5EF4-FFF2-40B4-BE49-F238E27FC236}">
                <a16:creationId xmlns:a16="http://schemas.microsoft.com/office/drawing/2014/main" id="{E0FA0AAD-3E19-47B7-A276-143A21558CC9}"/>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FAF0597-F587-414E-B172-5D490E0724C8}"/>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Training minimizes next-token negative log-likelihood.</a:t>
            </a:r>
          </a:p>
        </p:txBody>
      </p:sp>
      <p:sp>
        <p:nvSpPr>
          <p:cNvPr id="19" name="">
            <a:extLst xmlns:a="http://schemas.openxmlformats.org/drawingml/2006/main">
              <a:ext uri="{FF2B5EF4-FFF2-40B4-BE49-F238E27FC236}">
                <a16:creationId xmlns:a16="http://schemas.microsoft.com/office/drawing/2014/main" id="{5AEA2CD2-9D93-4156-A7D3-0EA0A1BD9E7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At generation time, each new token extends the prefix.</a:t>
            </a:r>
          </a:p>
        </p:txBody>
      </p:sp>
    </p:spTree>
    <p:extLst>
      <p:ext uri="{BB962C8B-B14F-4D97-AF65-F5344CB8AC3E}">
        <p14:creationId xmlns:p14="http://schemas.microsoft.com/office/powerpoint/2010/main" val="17895660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DFA220-8ACE-4946-AAFE-8FE5DDD6D90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LoRA and QLoRA</a:t>
            </a:r>
          </a:p>
        </p:txBody>
      </p:sp>
      <p:sp>
        <p:nvSpPr>
          <p:cNvPr id="2" name="">
            <a:extLst xmlns:a="http://schemas.openxmlformats.org/drawingml/2006/main">
              <a:ext uri="{FF2B5EF4-FFF2-40B4-BE49-F238E27FC236}">
                <a16:creationId xmlns:a16="http://schemas.microsoft.com/office/drawing/2014/main" id="{6AB4E35D-FA84-4FEF-AE0E-B40B0AC1C92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LOW-RANK ADAPTATION</a:t>
            </a:r>
          </a:p>
        </p:txBody>
      </p:sp>
      <p:sp>
        <p:nvSpPr>
          <p:cNvPr id="3" name="">
            <a:extLst xmlns:a="http://schemas.openxmlformats.org/drawingml/2006/main">
              <a:ext uri="{FF2B5EF4-FFF2-40B4-BE49-F238E27FC236}">
                <a16:creationId xmlns:a16="http://schemas.microsoft.com/office/drawing/2014/main" id="{0A170141-C1FF-439D-B98C-E0FC10E0AC2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25D5DDE8-0316-4C4D-BC37-5C0363D294E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7177285e78343a9"/>
          <a:stretch xmlns:a="http://schemas.openxmlformats.org/drawingml/2006/main"/>
        </p:blipFill>
        <p:spPr>
          <a:xfrm xmlns:a="http://schemas.openxmlformats.org/drawingml/2006/main">
            <a:off x="1855839" y="1762125"/>
            <a:ext cx="8480323" cy="876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462210-A985-4303-A1D4-ED27B239AE0F}"/>
              </a:ext>
            </a:extLst>
          </p:cNvPr>
          <p:cNvSpPr>
            <a:spLocks xmlns:a="http://schemas.openxmlformats.org/drawingml/2006/main" noGrp="1"/>
          </p:cNvSpPr>
          <p:nvPr/>
        </p:nvSpPr>
        <p:spPr>
          <a:xfrm xmlns:a="http://schemas.openxmlformats.org/drawingml/2006/main">
            <a:off x="609600" y="3095625"/>
            <a:ext cx="5334000" cy="1333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2B8A30-7BAB-49AF-A8E5-43208462F9FF}"/>
              </a:ext>
            </a:extLst>
          </p:cNvPr>
          <p:cNvSpPr>
            <a:spLocks xmlns:a="http://schemas.openxmlformats.org/drawingml/2006/main" noGrp="1"/>
          </p:cNvSpPr>
          <p:nvPr/>
        </p:nvSpPr>
        <p:spPr>
          <a:xfrm xmlns:a="http://schemas.openxmlformats.org/drawingml/2006/main">
            <a:off x="752475" y="3171825"/>
            <a:ext cx="5048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Frozen W</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4-bit backbone in QLoRA</a:t>
            </a:r>
          </a:p>
        </p:txBody>
      </p:sp>
      <p:sp>
        <p:nvSpPr>
          <p:cNvPr id="8" name="">
            <a:extLst xmlns:a="http://schemas.openxmlformats.org/drawingml/2006/main">
              <a:ext uri="{FF2B5EF4-FFF2-40B4-BE49-F238E27FC236}">
                <a16:creationId xmlns:a16="http://schemas.microsoft.com/office/drawing/2014/main" id="{FDCE9E9F-B902-4322-9ACD-DF4A79683493}"/>
              </a:ext>
            </a:extLst>
          </p:cNvPr>
          <p:cNvSpPr>
            <a:spLocks xmlns:a="http://schemas.openxmlformats.org/drawingml/2006/main" noGrp="1"/>
          </p:cNvSpPr>
          <p:nvPr/>
        </p:nvSpPr>
        <p:spPr>
          <a:xfrm xmlns:a="http://schemas.openxmlformats.org/drawingml/2006/main">
            <a:off x="6324600" y="3095625"/>
            <a:ext cx="5257800" cy="1333500"/>
          </a:xfrm>
          <a:prstGeom xmlns:a="http://schemas.openxmlformats.org/drawingml/2006/main" prst="rect">
            <a:avLst/>
          </a:prstGeom>
          <a:solidFill xmlns:a="http://schemas.openxmlformats.org/drawingml/2006/main">
            <a:srgbClr val="F6E9D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68C7AB7-35FC-44A5-8186-21DA7346AF8C}"/>
              </a:ext>
            </a:extLst>
          </p:cNvPr>
          <p:cNvSpPr>
            <a:spLocks xmlns:a="http://schemas.openxmlformats.org/drawingml/2006/main" noGrp="1"/>
          </p:cNvSpPr>
          <p:nvPr/>
        </p:nvSpPr>
        <p:spPr>
          <a:xfrm xmlns:a="http://schemas.openxmlformats.org/drawingml/2006/main">
            <a:off x="6467475" y="3171825"/>
            <a:ext cx="49720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Trainable A and B</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Higher-precision adapter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363460221d045f5"/>
          <a:stretch xmlns:a="http://schemas.openxmlformats.org/drawingml/2006/main"/>
        </p:blipFill>
        <p:spPr>
          <a:xfrm xmlns:a="http://schemas.openxmlformats.org/drawingml/2006/main">
            <a:off x="3217423" y="4552950"/>
            <a:ext cx="5757153" cy="6381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7CE98A2-89FD-4733-985D-CE6AD3AD6A8D}"/>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FCE2F58-23C3-4430-A826-59EA07B6D4DA}"/>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This work compresses the adapter after training.</a:t>
            </a:r>
          </a:p>
        </p:txBody>
      </p:sp>
      <p:sp>
        <p:nvSpPr>
          <p:cNvPr id="13" name="">
            <a:extLst xmlns:a="http://schemas.openxmlformats.org/drawingml/2006/main">
              <a:ext uri="{FF2B5EF4-FFF2-40B4-BE49-F238E27FC236}">
                <a16:creationId xmlns:a16="http://schemas.microsoft.com/office/drawing/2014/main" id="{C487F76E-BD92-4AD9-AD87-E366C45A919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Count shown for one adapted matrix. Sum over modules for the full adapter.</a:t>
            </a:r>
          </a:p>
        </p:txBody>
      </p:sp>
    </p:spTree>
    <p:extLst>
      <p:ext uri="{BB962C8B-B14F-4D97-AF65-F5344CB8AC3E}">
        <p14:creationId xmlns:p14="http://schemas.microsoft.com/office/powerpoint/2010/main" val="2015468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B780283-5FFD-47DB-BC7E-ECDE02684B4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adapter’s numerical code determines its rate</a:t>
            </a:r>
          </a:p>
        </p:txBody>
      </p:sp>
      <p:sp>
        <p:nvSpPr>
          <p:cNvPr id="2" name="">
            <a:extLst xmlns:a="http://schemas.openxmlformats.org/drawingml/2006/main">
              <a:ext uri="{FF2B5EF4-FFF2-40B4-BE49-F238E27FC236}">
                <a16:creationId xmlns:a16="http://schemas.microsoft.com/office/drawing/2014/main" id="{F945574D-D7BE-4966-BC9D-622CB612EF71}"/>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LORA COMPRESSION</a:t>
            </a:r>
          </a:p>
        </p:txBody>
      </p:sp>
      <p:sp>
        <p:nvSpPr>
          <p:cNvPr id="3" name="">
            <a:extLst xmlns:a="http://schemas.openxmlformats.org/drawingml/2006/main">
              <a:ext uri="{FF2B5EF4-FFF2-40B4-BE49-F238E27FC236}">
                <a16:creationId xmlns:a16="http://schemas.microsoft.com/office/drawing/2014/main" id="{B96F80B1-2D4E-4974-82CA-FBDABCD0228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6F4CB13-64A6-44BE-A677-07FD9529BC3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7e52ed0c37b4440"/>
          <a:stretch xmlns:a="http://schemas.openxmlformats.org/drawingml/2006/main"/>
        </p:blipFill>
        <p:spPr>
          <a:xfrm xmlns:a="http://schemas.openxmlformats.org/drawingml/2006/main">
            <a:off x="1702886" y="1819275"/>
            <a:ext cx="8786229" cy="923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48B832-4B2B-404F-96E9-727EC0D8DED7}"/>
              </a:ext>
            </a:extLst>
          </p:cNvPr>
          <p:cNvSpPr>
            <a:spLocks xmlns:a="http://schemas.openxmlformats.org/drawingml/2006/main" noGrp="1"/>
          </p:cNvSpPr>
          <p:nvPr/>
        </p:nvSpPr>
        <p:spPr>
          <a:xfrm xmlns:a="http://schemas.openxmlformats.org/drawingml/2006/main">
            <a:off x="609600" y="3162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Before entropy coding</a:t>
            </a:r>
          </a:p>
        </p:txBody>
      </p:sp>
      <p:sp>
        <p:nvSpPr>
          <p:cNvPr id="7" name="">
            <a:extLst xmlns:a="http://schemas.openxmlformats.org/drawingml/2006/main">
              <a:ext uri="{FF2B5EF4-FFF2-40B4-BE49-F238E27FC236}">
                <a16:creationId xmlns:a16="http://schemas.microsoft.com/office/drawing/2014/main" id="{8A8C72F4-888B-4E9F-A754-4DFA15538450}"/>
              </a:ext>
            </a:extLst>
          </p:cNvPr>
          <p:cNvSpPr>
            <a:spLocks xmlns:a="http://schemas.openxmlformats.org/drawingml/2006/main" noGrp="1"/>
          </p:cNvSpPr>
          <p:nvPr/>
        </p:nvSpPr>
        <p:spPr>
          <a:xfrm xmlns:a="http://schemas.openxmlformats.org/drawingml/2006/main">
            <a:off x="609600" y="3648075"/>
            <a:ext cx="5219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b bits per value, plus the information</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needed to decode the numbers</a:t>
            </a:r>
          </a:p>
        </p:txBody>
      </p:sp>
      <p:sp>
        <p:nvSpPr>
          <p:cNvPr id="8" name="">
            <a:extLst xmlns:a="http://schemas.openxmlformats.org/drawingml/2006/main">
              <a:ext uri="{FF2B5EF4-FFF2-40B4-BE49-F238E27FC236}">
                <a16:creationId xmlns:a16="http://schemas.microsoft.com/office/drawing/2014/main" id="{E9E7D68A-616D-4E5C-8466-21E146CD4492}"/>
              </a:ext>
            </a:extLst>
          </p:cNvPr>
          <p:cNvSpPr>
            <a:spLocks xmlns:a="http://schemas.openxmlformats.org/drawingml/2006/main" noGrp="1"/>
          </p:cNvSpPr>
          <p:nvPr/>
        </p:nvSpPr>
        <p:spPr>
          <a:xfrm xmlns:a="http://schemas.openxmlformats.org/drawingml/2006/main">
            <a:off x="6667500" y="3162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After packing and zlib</a:t>
            </a:r>
          </a:p>
        </p:txBody>
      </p:sp>
      <p:sp>
        <p:nvSpPr>
          <p:cNvPr id="9" name="">
            <a:extLst xmlns:a="http://schemas.openxmlformats.org/drawingml/2006/main">
              <a:ext uri="{FF2B5EF4-FFF2-40B4-BE49-F238E27FC236}">
                <a16:creationId xmlns:a16="http://schemas.microsoft.com/office/drawing/2014/main" id="{655BC1DF-FCC2-446E-B486-731A746E63AE}"/>
              </a:ext>
            </a:extLst>
          </p:cNvPr>
          <p:cNvSpPr>
            <a:spLocks xmlns:a="http://schemas.openxmlformats.org/drawingml/2006/main" noGrp="1"/>
          </p:cNvSpPr>
          <p:nvPr/>
        </p:nvSpPr>
        <p:spPr>
          <a:xfrm xmlns:a="http://schemas.openxmlformats.org/drawingml/2006/main">
            <a:off x="6667500" y="3648075"/>
            <a:ext cx="4914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The actual file length determines 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The original value count P stays fixed.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6212b6a7eec4377"/>
          <a:stretch xmlns:a="http://schemas.openxmlformats.org/drawingml/2006/main"/>
        </p:blipFill>
        <p:spPr>
          <a:xfrm xmlns:a="http://schemas.openxmlformats.org/drawingml/2006/main">
            <a:off x="2983976" y="4857750"/>
            <a:ext cx="6224047" cy="72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B34034A-6863-4DC3-BCC9-B0A233D56DD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Backbone weights remain shared. This rate counts only the complete adapter file.</a:t>
            </a:r>
          </a:p>
        </p:txBody>
      </p:sp>
    </p:spTree>
    <p:extLst>
      <p:ext uri="{BB962C8B-B14F-4D97-AF65-F5344CB8AC3E}">
        <p14:creationId xmlns:p14="http://schemas.microsoft.com/office/powerpoint/2010/main" val="19670315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4A68BB-EDFF-4B17-A255-ADCCC8229933}"/>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Coding and rate–distortion</a:t>
            </a:r>
          </a:p>
        </p:txBody>
      </p:sp>
      <p:sp>
        <p:nvSpPr>
          <p:cNvPr id="2" name="">
            <a:extLst xmlns:a="http://schemas.openxmlformats.org/drawingml/2006/main">
              <a:ext uri="{FF2B5EF4-FFF2-40B4-BE49-F238E27FC236}">
                <a16:creationId xmlns:a16="http://schemas.microsoft.com/office/drawing/2014/main" id="{F7CA8C71-5DBE-4BDA-A114-DB3B99DCADC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INFORMATION THEORY</a:t>
            </a:r>
          </a:p>
        </p:txBody>
      </p:sp>
      <p:sp>
        <p:nvSpPr>
          <p:cNvPr id="3" name="">
            <a:extLst xmlns:a="http://schemas.openxmlformats.org/drawingml/2006/main">
              <a:ext uri="{FF2B5EF4-FFF2-40B4-BE49-F238E27FC236}">
                <a16:creationId xmlns:a16="http://schemas.microsoft.com/office/drawing/2014/main" id="{A551A817-CD92-418A-9DF7-9A44284DF41A}"/>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ECDF800B-41E7-4C43-97BC-F0AB88CE77EC}"/>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5f251d7e4fc4b77"/>
          <a:stretch xmlns:a="http://schemas.openxmlformats.org/drawingml/2006/main"/>
        </p:blipFill>
        <p:spPr>
          <a:xfrm xmlns:a="http://schemas.openxmlformats.org/drawingml/2006/main">
            <a:off x="609600" y="1980317"/>
            <a:ext cx="10810875" cy="68756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2B7B34-D4C6-4C95-BC8D-041CF9A65740}"/>
              </a:ext>
            </a:extLst>
          </p:cNvPr>
          <p:cNvSpPr>
            <a:spLocks xmlns:a="http://schemas.openxmlformats.org/drawingml/2006/main" noGrp="1"/>
          </p:cNvSpPr>
          <p:nvPr/>
        </p:nvSpPr>
        <p:spPr>
          <a:xfrm xmlns:a="http://schemas.openxmlformats.org/drawingml/2006/main">
            <a:off x="609600" y="3228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Lossy coding</a:t>
            </a:r>
          </a:p>
        </p:txBody>
      </p:sp>
      <p:sp>
        <p:nvSpPr>
          <p:cNvPr id="7" name="">
            <a:extLst xmlns:a="http://schemas.openxmlformats.org/drawingml/2006/main">
              <a:ext uri="{FF2B5EF4-FFF2-40B4-BE49-F238E27FC236}">
                <a16:creationId xmlns:a16="http://schemas.microsoft.com/office/drawing/2014/main" id="{83DA4C5B-0169-4ECA-90AC-A83B0834E90F}"/>
              </a:ext>
            </a:extLst>
          </p:cNvPr>
          <p:cNvSpPr>
            <a:spLocks xmlns:a="http://schemas.openxmlformats.org/drawingml/2006/main" noGrp="1"/>
          </p:cNvSpPr>
          <p:nvPr/>
        </p:nvSpPr>
        <p:spPr>
          <a:xfrm xmlns:a="http://schemas.openxmlformats.org/drawingml/2006/main">
            <a:off x="609600" y="37147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C97433"/>
                </a:solidFill>
                <a:latin typeface="Helvetica Neue"/>
                <a:ea typeface="Helvetica Neue"/>
                <a:cs typeface="Helvetica Neue"/>
              </a:defRPr>
            </a:pPr>
            <a:r>
              <a:rPr sz="2400" b="1">
                <a:solidFill>
                  <a:srgbClr val="C97433"/>
                </a:solidFill>
                <a:latin typeface="Helvetica Neue"/>
                <a:ea typeface="Helvetica Neue"/>
                <a:cs typeface="Helvetica Neue"/>
              </a:rPr>
              <a:t>Minimize the message length</a:t>
            </a:r>
          </a:p>
          <a:p xmlns:a="http://schemas.openxmlformats.org/drawingml/2006/main">
            <a:pPr algn="l">
              <a:defRPr sz="2400" b="1">
                <a:solidFill>
                  <a:srgbClr val="C97433"/>
                </a:solidFill>
                <a:latin typeface="Helvetica Neue"/>
                <a:ea typeface="Helvetica Neue"/>
                <a:cs typeface="Helvetica Neue"/>
              </a:defRPr>
            </a:pPr>
            <a:r>
              <a:rPr sz="2400" b="1">
                <a:solidFill>
                  <a:srgbClr val="C97433"/>
                </a:solidFill>
                <a:latin typeface="Helvetica Neue"/>
                <a:ea typeface="Helvetica Neue"/>
                <a:cs typeface="Helvetica Neue"/>
              </a:rPr>
              <a:t>under an error constraint.</a:t>
            </a:r>
          </a:p>
        </p:txBody>
      </p:sp>
      <p:sp>
        <p:nvSpPr>
          <p:cNvPr id="8" name="">
            <a:extLst xmlns:a="http://schemas.openxmlformats.org/drawingml/2006/main">
              <a:ext uri="{FF2B5EF4-FFF2-40B4-BE49-F238E27FC236}">
                <a16:creationId xmlns:a16="http://schemas.microsoft.com/office/drawing/2014/main" id="{1FDEE100-7842-45E5-B390-08AA3A77D503}"/>
              </a:ext>
            </a:extLst>
          </p:cNvPr>
          <p:cNvSpPr>
            <a:spLocks xmlns:a="http://schemas.openxmlformats.org/drawingml/2006/main" noGrp="1"/>
          </p:cNvSpPr>
          <p:nvPr/>
        </p:nvSpPr>
        <p:spPr>
          <a:xfrm xmlns:a="http://schemas.openxmlformats.org/drawingml/2006/main">
            <a:off x="6667500" y="3228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Side information</a:t>
            </a:r>
          </a:p>
        </p:txBody>
      </p:sp>
      <p:sp>
        <p:nvSpPr>
          <p:cNvPr id="9" name="">
            <a:extLst xmlns:a="http://schemas.openxmlformats.org/drawingml/2006/main">
              <a:ext uri="{FF2B5EF4-FFF2-40B4-BE49-F238E27FC236}">
                <a16:creationId xmlns:a16="http://schemas.microsoft.com/office/drawing/2014/main" id="{27FC121A-CB79-4FA0-BCAA-221554C7CF93}"/>
              </a:ext>
            </a:extLst>
          </p:cNvPr>
          <p:cNvSpPr>
            <a:spLocks xmlns:a="http://schemas.openxmlformats.org/drawingml/2006/main" noGrp="1"/>
          </p:cNvSpPr>
          <p:nvPr/>
        </p:nvSpPr>
        <p:spPr>
          <a:xfrm xmlns:a="http://schemas.openxmlformats.org/drawingml/2006/main">
            <a:off x="6667500" y="37147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Both sides already have the base model.</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Only the update enters the file budget.</a:t>
            </a:r>
          </a:p>
        </p:txBody>
      </p:sp>
      <p:sp>
        <p:nvSpPr>
          <p:cNvPr id="10" name="">
            <a:extLst xmlns:a="http://schemas.openxmlformats.org/drawingml/2006/main">
              <a:ext uri="{FF2B5EF4-FFF2-40B4-BE49-F238E27FC236}">
                <a16:creationId xmlns:a16="http://schemas.microsoft.com/office/drawing/2014/main" id="{EB8CF0E1-5FDF-4076-8A9E-7EB82E4A4E11}"/>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49D21C-ACB7-4B4B-95DC-554E65D0D3F9}"/>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The distortion measure specifies the behavior to preserve.</a:t>
            </a:r>
          </a:p>
        </p:txBody>
      </p:sp>
    </p:spTree>
    <p:extLst>
      <p:ext uri="{BB962C8B-B14F-4D97-AF65-F5344CB8AC3E}">
        <p14:creationId xmlns:p14="http://schemas.microsoft.com/office/powerpoint/2010/main" val="7859649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F80FD1-0F53-46DF-8637-2089F3C613CA}"/>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 chain of thought for April and May sales</a:t>
            </a:r>
          </a:p>
        </p:txBody>
      </p:sp>
      <p:sp>
        <p:nvSpPr>
          <p:cNvPr id="2" name="">
            <a:extLst xmlns:a="http://schemas.openxmlformats.org/drawingml/2006/main">
              <a:ext uri="{FF2B5EF4-FFF2-40B4-BE49-F238E27FC236}">
                <a16:creationId xmlns:a16="http://schemas.microsoft.com/office/drawing/2014/main" id="{44CE2BD6-0E96-43D3-9E1D-A83419557D84}"/>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COT EXAMPLE</a:t>
            </a:r>
          </a:p>
        </p:txBody>
      </p:sp>
      <p:sp>
        <p:nvSpPr>
          <p:cNvPr id="3" name="">
            <a:extLst xmlns:a="http://schemas.openxmlformats.org/drawingml/2006/main">
              <a:ext uri="{FF2B5EF4-FFF2-40B4-BE49-F238E27FC236}">
                <a16:creationId xmlns:a16="http://schemas.microsoft.com/office/drawing/2014/main" id="{FC206A96-3221-46F8-AB6A-61AFCA4BECC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F65E940-75FF-4FC2-B4B6-BE405DA1FE3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015014-09A2-4E44-8DBA-1248065A93DC}"/>
              </a:ext>
            </a:extLst>
          </p:cNvPr>
          <p:cNvSpPr>
            <a:spLocks xmlns:a="http://schemas.openxmlformats.org/drawingml/2006/main" noGrp="1"/>
          </p:cNvSpPr>
          <p:nvPr/>
        </p:nvSpPr>
        <p:spPr>
          <a:xfrm xmlns:a="http://schemas.openxmlformats.org/drawingml/2006/main">
            <a:off x="609600" y="2209800"/>
            <a:ext cx="306705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April: 48 clips</a:t>
            </a:r>
          </a:p>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May: half as many</a:t>
            </a:r>
          </a:p>
          <a:p xmlns:a="http://schemas.openxmlformats.org/drawingml/2006/main">
            <a:r>
              <a:t/>
            </a:r>
          </a:p>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Total over both months?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64a188dc26943d2"/>
          <a:stretch xmlns:a="http://schemas.openxmlformats.org/drawingml/2006/main"/>
        </p:blipFill>
        <p:spPr>
          <a:xfrm xmlns:a="http://schemas.openxmlformats.org/drawingml/2006/main">
            <a:off x="3911580" y="1828800"/>
            <a:ext cx="7512090" cy="3638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6FD14E7-7423-410A-B05B-A0F2FE7B50D5}"/>
              </a:ext>
            </a:extLst>
          </p:cNvPr>
          <p:cNvSpPr>
            <a:spLocks xmlns:a="http://schemas.openxmlformats.org/drawingml/2006/main" noGrp="1"/>
          </p:cNvSpPr>
          <p:nvPr/>
        </p:nvSpPr>
        <p:spPr>
          <a:xfrm xmlns:a="http://schemas.openxmlformats.org/drawingml/2006/main">
            <a:off x="609600" y="541020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00E563-6A82-4337-B2D3-811260DF0CFE}"/>
              </a:ext>
            </a:extLst>
          </p:cNvPr>
          <p:cNvSpPr>
            <a:spLocks xmlns:a="http://schemas.openxmlformats.org/drawingml/2006/main" noGrp="1"/>
          </p:cNvSpPr>
          <p:nvPr/>
        </p:nvSpPr>
        <p:spPr>
          <a:xfrm xmlns:a="http://schemas.openxmlformats.org/drawingml/2006/main">
            <a:off x="1381125" y="528637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Intermediate claims make the computation explicit.</a:t>
            </a:r>
          </a:p>
        </p:txBody>
      </p:sp>
      <p:sp>
        <p:nvSpPr>
          <p:cNvPr id="9" name="">
            <a:extLst xmlns:a="http://schemas.openxmlformats.org/drawingml/2006/main">
              <a:ext uri="{FF2B5EF4-FFF2-40B4-BE49-F238E27FC236}">
                <a16:creationId xmlns:a16="http://schemas.microsoft.com/office/drawing/2014/main" id="{362BEC3D-8DDA-46D6-80FF-97A136382CD7}"/>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The report’s hypothetical solution graph. Its nodes need not coincide with token or hidden-state boundaries.</a:t>
            </a:r>
          </a:p>
        </p:txBody>
      </p:sp>
    </p:spTree>
    <p:extLst>
      <p:ext uri="{BB962C8B-B14F-4D97-AF65-F5344CB8AC3E}">
        <p14:creationId xmlns:p14="http://schemas.microsoft.com/office/powerpoint/2010/main" val="999087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9378B5-3AF2-4A2F-964D-1A360BAF51E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the model builds a chain of thought</a:t>
            </a:r>
          </a:p>
        </p:txBody>
      </p:sp>
      <p:sp>
        <p:nvSpPr>
          <p:cNvPr id="2" name="">
            <a:extLst xmlns:a="http://schemas.openxmlformats.org/drawingml/2006/main">
              <a:ext uri="{FF2B5EF4-FFF2-40B4-BE49-F238E27FC236}">
                <a16:creationId xmlns:a16="http://schemas.microsoft.com/office/drawing/2014/main" id="{DE3FD5FF-98AB-47FD-AC6D-816A73669DA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AUTOREGRESSIVE COMPUTATION</a:t>
            </a:r>
          </a:p>
        </p:txBody>
      </p:sp>
      <p:sp>
        <p:nvSpPr>
          <p:cNvPr id="3" name="">
            <a:extLst xmlns:a="http://schemas.openxmlformats.org/drawingml/2006/main">
              <a:ext uri="{FF2B5EF4-FFF2-40B4-BE49-F238E27FC236}">
                <a16:creationId xmlns:a16="http://schemas.microsoft.com/office/drawing/2014/main" id="{680676F9-5E35-41E7-A85E-793DF8BF684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46EC4E2-39CD-4D01-9DAE-05FC648CE2DD}"/>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b71c6287fa649f1"/>
          <a:stretch xmlns:a="http://schemas.openxmlformats.org/drawingml/2006/main"/>
        </p:blipFill>
        <p:spPr>
          <a:xfrm xmlns:a="http://schemas.openxmlformats.org/drawingml/2006/main">
            <a:off x="2982204" y="1819275"/>
            <a:ext cx="6227593" cy="1066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2411CA9-09EF-40DD-BA1A-BA1FF08BA6D8}"/>
              </a:ext>
            </a:extLst>
          </p:cNvPr>
          <p:cNvSpPr>
            <a:spLocks xmlns:a="http://schemas.openxmlformats.org/drawingml/2006/main" noGrp="1"/>
          </p:cNvSpPr>
          <p:nvPr/>
        </p:nvSpPr>
        <p:spPr>
          <a:xfrm xmlns:a="http://schemas.openxmlformats.org/drawingml/2006/main">
            <a:off x="609600" y="2895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77079"/>
                </a:solidFill>
                <a:latin typeface="Helvetica Neue"/>
                <a:ea typeface="Helvetica Neue"/>
                <a:cs typeface="Helvetica Neue"/>
              </a:defRPr>
            </a:pPr>
            <a:r>
              <a:rPr sz="1725" b="0">
                <a:solidFill>
                  <a:srgbClr val="577079"/>
                </a:solidFill>
                <a:latin typeface="Helvetica Neue"/>
                <a:ea typeface="Helvetica Neue"/>
                <a:cs typeface="Helvetica Neue"/>
              </a:rPr>
              <a:t>x: problem     z: intermediate trace     y: final answer</a:t>
            </a:r>
          </a:p>
        </p:txBody>
      </p:sp>
      <p:sp>
        <p:nvSpPr>
          <p:cNvPr id="7" name="">
            <a:extLst xmlns:a="http://schemas.openxmlformats.org/drawingml/2006/main">
              <a:ext uri="{FF2B5EF4-FFF2-40B4-BE49-F238E27FC236}">
                <a16:creationId xmlns:a16="http://schemas.microsoft.com/office/drawing/2014/main" id="{C9AF6326-20CB-48D7-ABFF-1466A903EB01}"/>
              </a:ext>
            </a:extLst>
          </p:cNvPr>
          <p:cNvSpPr>
            <a:spLocks xmlns:a="http://schemas.openxmlformats.org/drawingml/2006/main" noGrp="1"/>
          </p:cNvSpPr>
          <p:nvPr/>
        </p:nvSpPr>
        <p:spPr>
          <a:xfrm xmlns:a="http://schemas.openxmlformats.org/drawingml/2006/main">
            <a:off x="609600" y="32385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Generate a token, then extend the context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7d2c56296344dff"/>
          <a:stretch xmlns:a="http://schemas.openxmlformats.org/drawingml/2006/main"/>
        </p:blipFill>
        <p:spPr>
          <a:xfrm xmlns:a="http://schemas.openxmlformats.org/drawingml/2006/main">
            <a:off x="965434" y="3733800"/>
            <a:ext cx="10261132" cy="7048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17BD72A-4A62-4700-BE3D-CBEF2FE10B30}"/>
              </a:ext>
            </a:extLst>
          </p:cNvPr>
          <p:cNvSpPr>
            <a:spLocks xmlns:a="http://schemas.openxmlformats.org/drawingml/2006/main" noGrp="1"/>
          </p:cNvSpPr>
          <p:nvPr/>
        </p:nvSpPr>
        <p:spPr>
          <a:xfrm xmlns:a="http://schemas.openxmlformats.org/drawingml/2006/main">
            <a:off x="609600" y="4829175"/>
            <a:ext cx="5810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42E38"/>
                </a:solidFill>
                <a:latin typeface="Helvetica Neue"/>
                <a:ea typeface="Helvetica Neue"/>
                <a:cs typeface="Helvetica Neue"/>
              </a:defRPr>
            </a:pPr>
            <a:r>
              <a:rPr sz="2100" b="0">
                <a:solidFill>
                  <a:srgbClr val="142E38"/>
                </a:solidFill>
                <a:latin typeface="Helvetica Neue"/>
                <a:ea typeface="Helvetica Neue"/>
                <a:cs typeface="Helvetica Neue"/>
              </a:rPr>
              <a:t>Each token adds a transformer pass.</a:t>
            </a:r>
          </a:p>
          <a:p xmlns:a="http://schemas.openxmlformats.org/drawingml/2006/main">
            <a:pPr algn="l">
              <a:defRPr sz="2100" b="0">
                <a:solidFill>
                  <a:srgbClr val="142E38"/>
                </a:solidFill>
                <a:latin typeface="Helvetica Neue"/>
                <a:ea typeface="Helvetica Neue"/>
                <a:cs typeface="Helvetica Neue"/>
              </a:defRPr>
            </a:pPr>
            <a:r>
              <a:rPr sz="2100" b="0">
                <a:solidFill>
                  <a:srgbClr val="142E38"/>
                </a:solidFill>
                <a:latin typeface="Helvetica Neue"/>
                <a:ea typeface="Helvetica Neue"/>
                <a:cs typeface="Helvetica Neue"/>
              </a:rPr>
              <a:t>One semantic step can span many tokens.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aa09daffc424f57"/>
          <a:stretch xmlns:a="http://schemas.openxmlformats.org/drawingml/2006/main"/>
        </p:blipFill>
        <p:spPr>
          <a:xfrm xmlns:a="http://schemas.openxmlformats.org/drawingml/2006/main">
            <a:off x="7641749" y="4800600"/>
            <a:ext cx="3118803" cy="628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2C30479-3BB2-4178-9035-B39AF6BB0A09}"/>
              </a:ext>
            </a:extLst>
          </p:cNvPr>
          <p:cNvSpPr>
            <a:spLocks xmlns:a="http://schemas.openxmlformats.org/drawingml/2006/main" noGrp="1"/>
          </p:cNvSpPr>
          <p:nvPr/>
        </p:nvSpPr>
        <p:spPr>
          <a:xfrm xmlns:a="http://schemas.openxmlformats.org/drawingml/2006/main">
            <a:off x="6915150" y="5514975"/>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77079"/>
                </a:solidFill>
                <a:latin typeface="Helvetica Neue"/>
                <a:ea typeface="Helvetica Neue"/>
                <a:cs typeface="Helvetica Neue"/>
              </a:defRPr>
            </a:pPr>
            <a:r>
              <a:rPr sz="1500" b="0">
                <a:solidFill>
                  <a:srgbClr val="577079"/>
                </a:solidFill>
                <a:latin typeface="Helvetica Neue"/>
                <a:ea typeface="Helvetica Neue"/>
                <a:cs typeface="Helvetica Neue"/>
              </a:rPr>
              <a:t>Generation samples a path through this sum.</a:t>
            </a:r>
          </a:p>
        </p:txBody>
      </p:sp>
    </p:spTree>
    <p:extLst>
      <p:ext uri="{BB962C8B-B14F-4D97-AF65-F5344CB8AC3E}">
        <p14:creationId xmlns:p14="http://schemas.microsoft.com/office/powerpoint/2010/main" val="5059730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32F3C1B-6595-44FF-9245-12F3EDB70269}"/>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exact rate for a fixed learned update</a:t>
            </a:r>
          </a:p>
        </p:txBody>
      </p:sp>
      <p:sp>
        <p:nvSpPr>
          <p:cNvPr id="2" name="">
            <a:extLst xmlns:a="http://schemas.openxmlformats.org/drawingml/2006/main">
              <a:ext uri="{FF2B5EF4-FFF2-40B4-BE49-F238E27FC236}">
                <a16:creationId xmlns:a16="http://schemas.microsoft.com/office/drawing/2014/main" id="{0EF57452-1E87-4305-A534-B58C4F0C1360}"/>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FINE-TUNING</a:t>
            </a:r>
          </a:p>
        </p:txBody>
      </p:sp>
      <p:sp>
        <p:nvSpPr>
          <p:cNvPr id="3" name="">
            <a:extLst xmlns:a="http://schemas.openxmlformats.org/drawingml/2006/main">
              <a:ext uri="{FF2B5EF4-FFF2-40B4-BE49-F238E27FC236}">
                <a16:creationId xmlns:a16="http://schemas.microsoft.com/office/drawing/2014/main" id="{FBCA7B26-3E39-4827-802C-2F5CB9C8433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8B9BE8D-67FD-4405-81DB-CF920C6AB19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757BFB-E9A8-49D5-8C2E-396B9D46BBD9}"/>
              </a:ext>
            </a:extLst>
          </p:cNvPr>
          <p:cNvSpPr>
            <a:spLocks xmlns:a="http://schemas.openxmlformats.org/drawingml/2006/main" noGrp="1"/>
          </p:cNvSpPr>
          <p:nvPr/>
        </p:nvSpPr>
        <p:spPr>
          <a:xfrm xmlns:a="http://schemas.openxmlformats.org/drawingml/2006/main">
            <a:off x="6096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3C7339-FCE5-4BAD-A0E3-6E8AE5934E93}"/>
              </a:ext>
            </a:extLst>
          </p:cNvPr>
          <p:cNvSpPr>
            <a:spLocks xmlns:a="http://schemas.openxmlformats.org/drawingml/2006/main" noGrp="1"/>
          </p:cNvSpPr>
          <p:nvPr/>
        </p:nvSpPr>
        <p:spPr>
          <a:xfrm xmlns:a="http://schemas.openxmlformats.org/drawingml/2006/main">
            <a:off x="7524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Fixed adapter</a:t>
            </a:r>
          </a:p>
        </p:txBody>
      </p:sp>
      <p:sp>
        <p:nvSpPr>
          <p:cNvPr id="7" name="">
            <a:extLst xmlns:a="http://schemas.openxmlformats.org/drawingml/2006/main">
              <a:ext uri="{FF2B5EF4-FFF2-40B4-BE49-F238E27FC236}">
                <a16:creationId xmlns:a16="http://schemas.microsoft.com/office/drawing/2014/main" id="{62569D8F-E02D-442F-AD5F-0B717AC7247B}"/>
              </a:ext>
            </a:extLst>
          </p:cNvPr>
          <p:cNvSpPr>
            <a:spLocks xmlns:a="http://schemas.openxmlformats.org/drawingml/2006/main" noGrp="1"/>
          </p:cNvSpPr>
          <p:nvPr/>
        </p:nvSpPr>
        <p:spPr>
          <a:xfrm xmlns:a="http://schemas.openxmlformats.org/drawingml/2006/main">
            <a:off x="3095625" y="2257425"/>
            <a:ext cx="49530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DDD9C4-28EA-4457-A502-274D3E7F3884}"/>
              </a:ext>
            </a:extLst>
          </p:cNvPr>
          <p:cNvSpPr>
            <a:spLocks xmlns:a="http://schemas.openxmlformats.org/drawingml/2006/main" noGrp="1"/>
          </p:cNvSpPr>
          <p:nvPr/>
        </p:nvSpPr>
        <p:spPr>
          <a:xfrm xmlns:a="http://schemas.openxmlformats.org/drawingml/2006/main">
            <a:off x="3495675"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0CF720-352E-4B7A-8AD4-519BA584CA0C}"/>
              </a:ext>
            </a:extLst>
          </p:cNvPr>
          <p:cNvSpPr>
            <a:spLocks xmlns:a="http://schemas.openxmlformats.org/drawingml/2006/main" noGrp="1"/>
          </p:cNvSpPr>
          <p:nvPr/>
        </p:nvSpPr>
        <p:spPr>
          <a:xfrm xmlns:a="http://schemas.openxmlformats.org/drawingml/2006/main">
            <a:off x="37338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F60C65-DEBB-4361-B061-4ABEDC91C8DC}"/>
              </a:ext>
            </a:extLst>
          </p:cNvPr>
          <p:cNvSpPr>
            <a:spLocks xmlns:a="http://schemas.openxmlformats.org/drawingml/2006/main" noGrp="1"/>
          </p:cNvSpPr>
          <p:nvPr/>
        </p:nvSpPr>
        <p:spPr>
          <a:xfrm xmlns:a="http://schemas.openxmlformats.org/drawingml/2006/main">
            <a:off x="38766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Encode file</a:t>
            </a:r>
          </a:p>
        </p:txBody>
      </p:sp>
      <p:sp>
        <p:nvSpPr>
          <p:cNvPr id="11" name="">
            <a:extLst xmlns:a="http://schemas.openxmlformats.org/drawingml/2006/main">
              <a:ext uri="{FF2B5EF4-FFF2-40B4-BE49-F238E27FC236}">
                <a16:creationId xmlns:a16="http://schemas.microsoft.com/office/drawing/2014/main" id="{CA8BBA78-B86F-43F4-8442-CB9BABC0CB79}"/>
              </a:ext>
            </a:extLst>
          </p:cNvPr>
          <p:cNvSpPr>
            <a:spLocks xmlns:a="http://schemas.openxmlformats.org/drawingml/2006/main" noGrp="1"/>
          </p:cNvSpPr>
          <p:nvPr/>
        </p:nvSpPr>
        <p:spPr>
          <a:xfrm xmlns:a="http://schemas.openxmlformats.org/drawingml/2006/main">
            <a:off x="622935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E3F3D6-B6B6-496B-A09B-4D1A7D4B5104}"/>
              </a:ext>
            </a:extLst>
          </p:cNvPr>
          <p:cNvSpPr>
            <a:spLocks xmlns:a="http://schemas.openxmlformats.org/drawingml/2006/main" noGrp="1"/>
          </p:cNvSpPr>
          <p:nvPr/>
        </p:nvSpPr>
        <p:spPr>
          <a:xfrm xmlns:a="http://schemas.openxmlformats.org/drawingml/2006/main">
            <a:off x="661035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B117BA-13F5-4780-80E1-58529921B7E5}"/>
              </a:ext>
            </a:extLst>
          </p:cNvPr>
          <p:cNvSpPr>
            <a:spLocks xmlns:a="http://schemas.openxmlformats.org/drawingml/2006/main" noGrp="1"/>
          </p:cNvSpPr>
          <p:nvPr/>
        </p:nvSpPr>
        <p:spPr>
          <a:xfrm xmlns:a="http://schemas.openxmlformats.org/drawingml/2006/main">
            <a:off x="6838950" y="1914525"/>
            <a:ext cx="19240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D537FBA-C861-4AEE-8A07-D4BA999D07A6}"/>
              </a:ext>
            </a:extLst>
          </p:cNvPr>
          <p:cNvSpPr>
            <a:spLocks xmlns:a="http://schemas.openxmlformats.org/drawingml/2006/main" noGrp="1"/>
          </p:cNvSpPr>
          <p:nvPr/>
        </p:nvSpPr>
        <p:spPr>
          <a:xfrm xmlns:a="http://schemas.openxmlformats.org/drawingml/2006/main">
            <a:off x="6981825" y="1990725"/>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Reload</a:t>
            </a:r>
          </a:p>
        </p:txBody>
      </p:sp>
      <p:sp>
        <p:nvSpPr>
          <p:cNvPr id="15" name="">
            <a:extLst xmlns:a="http://schemas.openxmlformats.org/drawingml/2006/main">
              <a:ext uri="{FF2B5EF4-FFF2-40B4-BE49-F238E27FC236}">
                <a16:creationId xmlns:a16="http://schemas.microsoft.com/office/drawing/2014/main" id="{F44C78E1-DEAA-49BA-8BC3-C39726A385D8}"/>
              </a:ext>
            </a:extLst>
          </p:cNvPr>
          <p:cNvSpPr>
            <a:spLocks xmlns:a="http://schemas.openxmlformats.org/drawingml/2006/main" noGrp="1"/>
          </p:cNvSpPr>
          <p:nvPr/>
        </p:nvSpPr>
        <p:spPr>
          <a:xfrm xmlns:a="http://schemas.openxmlformats.org/drawingml/2006/main">
            <a:off x="887730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02B250-46BB-420E-8508-5B5A3792BFCD}"/>
              </a:ext>
            </a:extLst>
          </p:cNvPr>
          <p:cNvSpPr>
            <a:spLocks xmlns:a="http://schemas.openxmlformats.org/drawingml/2006/main" noGrp="1"/>
          </p:cNvSpPr>
          <p:nvPr/>
        </p:nvSpPr>
        <p:spPr>
          <a:xfrm xmlns:a="http://schemas.openxmlformats.org/drawingml/2006/main">
            <a:off x="925830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B64E4B7-E5A1-468F-AA96-C2AD2D332BD9}"/>
              </a:ext>
            </a:extLst>
          </p:cNvPr>
          <p:cNvSpPr>
            <a:spLocks xmlns:a="http://schemas.openxmlformats.org/drawingml/2006/main" noGrp="1"/>
          </p:cNvSpPr>
          <p:nvPr/>
        </p:nvSpPr>
        <p:spPr>
          <a:xfrm xmlns:a="http://schemas.openxmlformats.org/drawingml/2006/main">
            <a:off x="9486900" y="1914525"/>
            <a:ext cx="209550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45CFC0A-22C6-4149-8FD2-64FB1464B4AA}"/>
              </a:ext>
            </a:extLst>
          </p:cNvPr>
          <p:cNvSpPr>
            <a:spLocks xmlns:a="http://schemas.openxmlformats.org/drawingml/2006/main" noGrp="1"/>
          </p:cNvSpPr>
          <p:nvPr/>
        </p:nvSpPr>
        <p:spPr>
          <a:xfrm xmlns:a="http://schemas.openxmlformats.org/drawingml/2006/main">
            <a:off x="9629775" y="19907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Evaluate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f51b363ab8e4822"/>
          <a:stretch xmlns:a="http://schemas.openxmlformats.org/drawingml/2006/main"/>
        </p:blipFill>
        <p:spPr>
          <a:xfrm xmlns:a="http://schemas.openxmlformats.org/drawingml/2006/main">
            <a:off x="4246760" y="2943225"/>
            <a:ext cx="3698480" cy="93345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15afd522b7e4546"/>
          <a:stretch xmlns:a="http://schemas.openxmlformats.org/drawingml/2006/main"/>
        </p:blipFill>
        <p:spPr>
          <a:xfrm xmlns:a="http://schemas.openxmlformats.org/drawingml/2006/main">
            <a:off x="609600" y="4300263"/>
            <a:ext cx="10972800" cy="8197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A22209F-9907-4F91-9782-F5165FAFC3D1}"/>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C: tested codecs     M: frozen model     U: scored behavior     L: held-out loss</a:t>
            </a:r>
          </a:p>
        </p:txBody>
      </p:sp>
    </p:spTree>
    <p:extLst>
      <p:ext uri="{BB962C8B-B14F-4D97-AF65-F5344CB8AC3E}">
        <p14:creationId xmlns:p14="http://schemas.microsoft.com/office/powerpoint/2010/main" val="20235762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B9DD13-DF53-40ED-AD92-EA2BEC4D1CE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Weight error misses behavioral damage</a:t>
            </a:r>
          </a:p>
        </p:txBody>
      </p:sp>
      <p:sp>
        <p:nvSpPr>
          <p:cNvPr id="2" name="">
            <a:extLst xmlns:a="http://schemas.openxmlformats.org/drawingml/2006/main">
              <a:ext uri="{FF2B5EF4-FFF2-40B4-BE49-F238E27FC236}">
                <a16:creationId xmlns:a16="http://schemas.microsoft.com/office/drawing/2014/main" id="{E81482FD-9EAF-4F9E-991E-7B531F5249A4}"/>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A FAILED ALLOCATION RULE</a:t>
            </a:r>
          </a:p>
        </p:txBody>
      </p:sp>
      <p:sp>
        <p:nvSpPr>
          <p:cNvPr id="3" name="">
            <a:extLst xmlns:a="http://schemas.openxmlformats.org/drawingml/2006/main">
              <a:ext uri="{FF2B5EF4-FFF2-40B4-BE49-F238E27FC236}">
                <a16:creationId xmlns:a16="http://schemas.microsoft.com/office/drawing/2014/main" id="{4BE24A47-EC2E-4A19-8319-9AFBD2C9903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D22A8024-14A4-4DB8-AED5-410764936C1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90725"/>
          <a:ext xmlns:a="http://schemas.openxmlformats.org/drawingml/2006/main" cx="6715125" cy="3143250"/>
        </p:xfrm>
        <a:graphic xmlns:a="http://schemas.openxmlformats.org/drawingml/2006/main">
          <a:graphicData uri="http://schemas.openxmlformats.org/drawingml/2006/chart">
            <c:chart xmlns:r="http://schemas.openxmlformats.org/officeDocument/2006/relationships" xmlns:c="http://schemas.openxmlformats.org/drawingml/2006/chart" r:id="R5cda43b6b7214123"/>
          </a:graphicData>
        </a:graphic>
      </p:graphicFrame>
      <p:sp>
        <p:nvSpPr>
          <p:cNvPr id="6" name="">
            <a:extLst xmlns:a="http://schemas.openxmlformats.org/drawingml/2006/main">
              <a:ext uri="{FF2B5EF4-FFF2-40B4-BE49-F238E27FC236}">
                <a16:creationId xmlns:a16="http://schemas.microsoft.com/office/drawing/2014/main" id="{8F348656-CE60-40BB-8651-6525D9564777}"/>
              </a:ext>
            </a:extLst>
          </p:cNvPr>
          <p:cNvSpPr>
            <a:spLocks xmlns:a="http://schemas.openxmlformats.org/drawingml/2006/main" noGrp="1"/>
          </p:cNvSpPr>
          <p:nvPr/>
        </p:nvSpPr>
        <p:spPr>
          <a:xfrm xmlns:a="http://schemas.openxmlformats.org/drawingml/2006/main">
            <a:off x="8096250" y="21336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F7B"/>
                </a:solidFill>
                <a:latin typeface="Helvetica Neue"/>
                <a:ea typeface="Helvetica Neue"/>
                <a:cs typeface="Helvetica Neue"/>
              </a:defRPr>
            </a:pPr>
            <a:r>
              <a:rPr sz="2700" b="1">
                <a:solidFill>
                  <a:srgbClr val="007F7B"/>
                </a:solidFill>
                <a:latin typeface="Helvetica Neue"/>
                <a:ea typeface="Helvetica Neue"/>
                <a:cs typeface="Helvetica Neue"/>
              </a:rPr>
              <a:t>≈ 1 bit / value</a:t>
            </a:r>
          </a:p>
        </p:txBody>
      </p:sp>
      <p:sp>
        <p:nvSpPr>
          <p:cNvPr id="7" name="">
            <a:extLst xmlns:a="http://schemas.openxmlformats.org/drawingml/2006/main">
              <a:ext uri="{FF2B5EF4-FFF2-40B4-BE49-F238E27FC236}">
                <a16:creationId xmlns:a16="http://schemas.microsoft.com/office/drawing/2014/main" id="{E3E888F5-8AC8-4BB6-A1AF-F5A4B3B8F0E0}"/>
              </a:ext>
            </a:extLst>
          </p:cNvPr>
          <p:cNvSpPr>
            <a:spLocks xmlns:a="http://schemas.openxmlformats.org/drawingml/2006/main" noGrp="1"/>
          </p:cNvSpPr>
          <p:nvPr/>
        </p:nvSpPr>
        <p:spPr>
          <a:xfrm xmlns:a="http://schemas.openxmlformats.org/drawingml/2006/main">
            <a:off x="8096250" y="30003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Similar weight RMSE</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83 points apart in</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retained task gain</a:t>
            </a:r>
          </a:p>
        </p:txBody>
      </p:sp>
      <p:sp>
        <p:nvSpPr>
          <p:cNvPr id="8" name="">
            <a:extLst xmlns:a="http://schemas.openxmlformats.org/drawingml/2006/main">
              <a:ext uri="{FF2B5EF4-FFF2-40B4-BE49-F238E27FC236}">
                <a16:creationId xmlns:a16="http://schemas.microsoft.com/office/drawing/2014/main" id="{BDA7B7FB-2102-4EF1-98A8-D2A3310BCBFC}"/>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D6F303-75EE-4420-A75C-BA331FBFFA8A}"/>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Behavior must be measured at the model’s output.</a:t>
            </a:r>
          </a:p>
        </p:txBody>
      </p:sp>
      <p:sp>
        <p:nvSpPr>
          <p:cNvPr id="10" name="">
            <a:extLst xmlns:a="http://schemas.openxmlformats.org/drawingml/2006/main">
              <a:ext uri="{FF2B5EF4-FFF2-40B4-BE49-F238E27FC236}">
                <a16:creationId xmlns:a16="http://schemas.microsoft.com/office/drawing/2014/main" id="{CF83E73A-57D9-45A6-9FF9-1969BC60771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Mistral-7B + rank-16 LoRA, MetaMathQA. Retained GSM8K exact-match gain, 3 seeds.</a:t>
            </a:r>
          </a:p>
        </p:txBody>
      </p:sp>
    </p:spTree>
    <p:extLst>
      <p:ext uri="{BB962C8B-B14F-4D97-AF65-F5344CB8AC3E}">
        <p14:creationId xmlns:p14="http://schemas.microsoft.com/office/powerpoint/2010/main" val="10441312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DB5285-DCD7-4202-B07F-75856260DD06}"/>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corpus ordering changes with the model</a:t>
            </a:r>
          </a:p>
        </p:txBody>
      </p:sp>
      <p:sp>
        <p:nvSpPr>
          <p:cNvPr id="2" name="">
            <a:extLst xmlns:a="http://schemas.openxmlformats.org/drawingml/2006/main">
              <a:ext uri="{FF2B5EF4-FFF2-40B4-BE49-F238E27FC236}">
                <a16:creationId xmlns:a16="http://schemas.microsoft.com/office/drawing/2014/main" id="{7A0FECE1-2D83-4480-A3C0-70C586B59446}"/>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RECEIVER DEPENDENCE</a:t>
            </a:r>
          </a:p>
        </p:txBody>
      </p:sp>
      <p:sp>
        <p:nvSpPr>
          <p:cNvPr id="3" name="">
            <a:extLst xmlns:a="http://schemas.openxmlformats.org/drawingml/2006/main">
              <a:ext uri="{FF2B5EF4-FFF2-40B4-BE49-F238E27FC236}">
                <a16:creationId xmlns:a16="http://schemas.microsoft.com/office/drawing/2014/main" id="{E2818766-93D1-40BC-96E8-82A4A482EF8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90693D56-4EE4-47E8-9AA5-3237530A00D9}"/>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df2b31a0008f4f05"/>
          </a:graphicData>
        </a:graphic>
      </p:graphicFrame>
      <p:sp>
        <p:nvSpPr>
          <p:cNvPr id="6" name="">
            <a:extLst xmlns:a="http://schemas.openxmlformats.org/drawingml/2006/main">
              <a:ext uri="{FF2B5EF4-FFF2-40B4-BE49-F238E27FC236}">
                <a16:creationId xmlns:a16="http://schemas.microsoft.com/office/drawing/2014/main" id="{EDDFFDCD-E9B5-407A-BA22-031889A6AFC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original adapter value. Mean over 3 seeds per corpus and model.</a:t>
            </a:r>
          </a:p>
        </p:txBody>
      </p:sp>
    </p:spTree>
    <p:extLst>
      <p:ext uri="{BB962C8B-B14F-4D97-AF65-F5344CB8AC3E}">
        <p14:creationId xmlns:p14="http://schemas.microsoft.com/office/powerpoint/2010/main" val="13396777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ADE623-8881-43A6-A01A-9866CA2A842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 spectra are a promising predictor</a:t>
            </a:r>
          </a:p>
        </p:txBody>
      </p:sp>
      <p:sp>
        <p:nvSpPr>
          <p:cNvPr id="2" name="">
            <a:extLst xmlns:a="http://schemas.openxmlformats.org/drawingml/2006/main">
              <a:ext uri="{FF2B5EF4-FFF2-40B4-BE49-F238E27FC236}">
                <a16:creationId xmlns:a16="http://schemas.microsoft.com/office/drawing/2014/main" id="{7C10080D-FAA0-4924-83D1-FC8D4E8546E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CURRENT HYPOTHESIS</a:t>
            </a:r>
          </a:p>
        </p:txBody>
      </p:sp>
      <p:sp>
        <p:nvSpPr>
          <p:cNvPr id="3" name="">
            <a:extLst xmlns:a="http://schemas.openxmlformats.org/drawingml/2006/main">
              <a:ext uri="{FF2B5EF4-FFF2-40B4-BE49-F238E27FC236}">
                <a16:creationId xmlns:a16="http://schemas.microsoft.com/office/drawing/2014/main" id="{FB5FA33E-D9C6-4500-9480-7F138E54A1C4}"/>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B72F2E01-531A-46FF-ABCE-A4A000FBE5D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ed4a43097b445cc"/>
          <a:stretch xmlns:a="http://schemas.openxmlformats.org/drawingml/2006/main"/>
        </p:blipFill>
        <p:spPr>
          <a:xfrm xmlns:a="http://schemas.openxmlformats.org/drawingml/2006/main">
            <a:off x="1220955" y="2019300"/>
            <a:ext cx="5921041" cy="8858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ac8fc69a5f5444d"/>
          <a:stretch xmlns:a="http://schemas.openxmlformats.org/drawingml/2006/main"/>
        </p:blipFill>
        <p:spPr>
          <a:xfrm xmlns:a="http://schemas.openxmlformats.org/drawingml/2006/main">
            <a:off x="971452" y="3390900"/>
            <a:ext cx="6515296" cy="95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EBEFA1C-06B1-428B-927F-D50E20F8A225}"/>
              </a:ext>
            </a:extLst>
          </p:cNvPr>
          <p:cNvSpPr>
            <a:spLocks xmlns:a="http://schemas.openxmlformats.org/drawingml/2006/main" noGrp="1"/>
          </p:cNvSpPr>
          <p:nvPr/>
        </p:nvSpPr>
        <p:spPr>
          <a:xfrm xmlns:a="http://schemas.openxmlformats.org/drawingml/2006/main">
            <a:off x="609600" y="4581525"/>
            <a:ext cx="719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77079"/>
                </a:solidFill>
                <a:latin typeface="Helvetica Neue"/>
                <a:ea typeface="Helvetica Neue"/>
                <a:cs typeface="Helvetica Neue"/>
              </a:defRPr>
            </a:pPr>
            <a:r>
              <a:rPr sz="1950" b="0">
                <a:solidFill>
                  <a:srgbClr val="577079"/>
                </a:solidFill>
                <a:latin typeface="Helvetica Neue"/>
                <a:ea typeface="Helvetica Neue"/>
                <a:cs typeface="Helvetica Neue"/>
              </a:rPr>
              <a:t>Large corrections across many directions</a:t>
            </a:r>
          </a:p>
        </p:txBody>
      </p:sp>
      <p:sp>
        <p:nvSpPr>
          <p:cNvPr id="8" name="">
            <a:extLst xmlns:a="http://schemas.openxmlformats.org/drawingml/2006/main">
              <a:ext uri="{FF2B5EF4-FFF2-40B4-BE49-F238E27FC236}">
                <a16:creationId xmlns:a16="http://schemas.microsoft.com/office/drawing/2014/main" id="{D98AA534-0FF9-44BE-9A18-746A51FB378D}"/>
              </a:ext>
            </a:extLst>
          </p:cNvPr>
          <p:cNvSpPr>
            <a:spLocks xmlns:a="http://schemas.openxmlformats.org/drawingml/2006/main" noGrp="1"/>
          </p:cNvSpPr>
          <p:nvPr/>
        </p:nvSpPr>
        <p:spPr>
          <a:xfrm xmlns:a="http://schemas.openxmlformats.org/drawingml/2006/main">
            <a:off x="8248650" y="201930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142E38"/>
                </a:solidFill>
                <a:latin typeface="Helvetica Neue"/>
                <a:ea typeface="Helvetica Neue"/>
                <a:cs typeface="Helvetica Neue"/>
              </a:defRPr>
            </a:pPr>
            <a:r>
              <a:rPr sz="5100" b="1">
                <a:solidFill>
                  <a:srgbClr val="142E38"/>
                </a:solidFill>
                <a:latin typeface="Helvetica Neue"/>
                <a:ea typeface="Helvetica Neue"/>
                <a:cs typeface="Helvetica Neue"/>
              </a:rPr>
              <a:t>0.764</a:t>
            </a:r>
          </a:p>
        </p:txBody>
      </p:sp>
      <p:sp>
        <p:nvSpPr>
          <p:cNvPr id="9" name="">
            <a:extLst xmlns:a="http://schemas.openxmlformats.org/drawingml/2006/main">
              <a:ext uri="{FF2B5EF4-FFF2-40B4-BE49-F238E27FC236}">
                <a16:creationId xmlns:a16="http://schemas.microsoft.com/office/drawing/2014/main" id="{74F3F1A3-9124-4575-BBF5-411DEB3D7873}"/>
              </a:ext>
            </a:extLst>
          </p:cNvPr>
          <p:cNvSpPr>
            <a:spLocks xmlns:a="http://schemas.openxmlformats.org/drawingml/2006/main" noGrp="1"/>
          </p:cNvSpPr>
          <p:nvPr/>
        </p:nvSpPr>
        <p:spPr>
          <a:xfrm xmlns:a="http://schemas.openxmlformats.org/drawingml/2006/main">
            <a:off x="8248650" y="2895600"/>
            <a:ext cx="328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42E38"/>
                </a:solidFill>
                <a:latin typeface="Helvetica Neue"/>
                <a:ea typeface="Helvetica Neue"/>
                <a:cs typeface="Helvetica Neue"/>
              </a:defRPr>
            </a:pPr>
            <a:r>
              <a:rPr sz="1875" b="0">
                <a:solidFill>
                  <a:srgbClr val="142E38"/>
                </a:solidFill>
                <a:latin typeface="Helvetica Neue"/>
                <a:ea typeface="Helvetica Neue"/>
                <a:cs typeface="Helvetica Neue"/>
              </a:rPr>
              <a:t>Within-model Spearman ρ</a:t>
            </a:r>
          </a:p>
        </p:txBody>
      </p:sp>
      <p:sp>
        <p:nvSpPr>
          <p:cNvPr id="10" name="">
            <a:extLst xmlns:a="http://schemas.openxmlformats.org/drawingml/2006/main">
              <a:ext uri="{FF2B5EF4-FFF2-40B4-BE49-F238E27FC236}">
                <a16:creationId xmlns:a16="http://schemas.microsoft.com/office/drawing/2014/main" id="{59ED37FD-C429-485A-9863-D620EA109D55}"/>
              </a:ext>
            </a:extLst>
          </p:cNvPr>
          <p:cNvSpPr>
            <a:spLocks xmlns:a="http://schemas.openxmlformats.org/drawingml/2006/main" noGrp="1"/>
          </p:cNvSpPr>
          <p:nvPr/>
        </p:nvSpPr>
        <p:spPr>
          <a:xfrm xmlns:a="http://schemas.openxmlformats.org/drawingml/2006/main">
            <a:off x="8248650" y="3924300"/>
            <a:ext cx="3238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22 conditions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7 task families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 frozen 7B models</a:t>
            </a:r>
          </a:p>
        </p:txBody>
      </p:sp>
      <p:sp>
        <p:nvSpPr>
          <p:cNvPr id="11" name="">
            <a:extLst xmlns:a="http://schemas.openxmlformats.org/drawingml/2006/main">
              <a:ext uri="{FF2B5EF4-FFF2-40B4-BE49-F238E27FC236}">
                <a16:creationId xmlns:a16="http://schemas.microsoft.com/office/drawing/2014/main" id="{E8B2F64B-94F3-4978-863F-826E6C3B5843}"/>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Projected output-head gradients. Strongest within-model ordering in this screen; prospective validation remains open.</a:t>
            </a:r>
          </a:p>
        </p:txBody>
      </p:sp>
    </p:spTree>
    <p:extLst>
      <p:ext uri="{BB962C8B-B14F-4D97-AF65-F5344CB8AC3E}">
        <p14:creationId xmlns:p14="http://schemas.microsoft.com/office/powerpoint/2010/main" val="21179123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E0677D-F4D6-4617-9868-F67AA858FBB7}"/>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Different objectives select different boundaries</a:t>
            </a:r>
          </a:p>
        </p:txBody>
      </p:sp>
      <p:sp>
        <p:nvSpPr>
          <p:cNvPr id="2" name="">
            <a:extLst xmlns:a="http://schemas.openxmlformats.org/drawingml/2006/main">
              <a:ext uri="{FF2B5EF4-FFF2-40B4-BE49-F238E27FC236}">
                <a16:creationId xmlns:a16="http://schemas.microsoft.com/office/drawing/2014/main" id="{24CC857A-9FEF-4CCE-A204-CFAEE71310D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REASONING TRAJECTORIES</a:t>
            </a:r>
          </a:p>
        </p:txBody>
      </p:sp>
      <p:sp>
        <p:nvSpPr>
          <p:cNvPr id="3" name="">
            <a:extLst xmlns:a="http://schemas.openxmlformats.org/drawingml/2006/main">
              <a:ext uri="{FF2B5EF4-FFF2-40B4-BE49-F238E27FC236}">
                <a16:creationId xmlns:a16="http://schemas.microsoft.com/office/drawing/2014/main" id="{2C91415D-4D8F-495D-B1D7-1FF75D76A5C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4AC7E414-481B-44DD-92F2-277990F80FF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62150"/>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e032c1a565ea464c"/>
          </a:graphicData>
        </a:graphic>
      </p:graphicFrame>
      <p:sp>
        <p:nvSpPr>
          <p:cNvPr id="6" name="">
            <a:extLst xmlns:a="http://schemas.openxmlformats.org/drawingml/2006/main">
              <a:ext uri="{FF2B5EF4-FFF2-40B4-BE49-F238E27FC236}">
                <a16:creationId xmlns:a16="http://schemas.microsoft.com/office/drawing/2014/main" id="{5C37016C-DC1F-45EF-B1C3-03577AED3208}"/>
              </a:ext>
            </a:extLst>
          </p:cNvPr>
          <p:cNvSpPr>
            <a:spLocks xmlns:a="http://schemas.openxmlformats.org/drawingml/2006/main" noGrp="1"/>
          </p:cNvSpPr>
          <p:nvPr/>
        </p:nvSpPr>
        <p:spPr>
          <a:xfrm xmlns:a="http://schemas.openxmlformats.org/drawingml/2006/main">
            <a:off x="8067675" y="20383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C97433"/>
                </a:solidFill>
                <a:latin typeface="Helvetica Neue"/>
                <a:ea typeface="Helvetica Neue"/>
                <a:cs typeface="Helvetica Neue"/>
              </a:defRPr>
            </a:pPr>
            <a:r>
              <a:rPr sz="3300" b="1">
                <a:solidFill>
                  <a:srgbClr val="C97433"/>
                </a:solidFill>
                <a:latin typeface="Helvetica Neue"/>
                <a:ea typeface="Helvetica Neue"/>
                <a:cs typeface="Helvetica Neue"/>
              </a:rPr>
              <a:t>0.098–0.210</a:t>
            </a:r>
          </a:p>
        </p:txBody>
      </p:sp>
      <p:sp>
        <p:nvSpPr>
          <p:cNvPr id="7" name="">
            <a:extLst xmlns:a="http://schemas.openxmlformats.org/drawingml/2006/main">
              <a:ext uri="{FF2B5EF4-FFF2-40B4-BE49-F238E27FC236}">
                <a16:creationId xmlns:a16="http://schemas.microsoft.com/office/drawing/2014/main" id="{8B47D67F-D3D4-46CA-9E8D-68AE582C949C}"/>
              </a:ext>
            </a:extLst>
          </p:cNvPr>
          <p:cNvSpPr>
            <a:spLocks xmlns:a="http://schemas.openxmlformats.org/drawingml/2006/main" noGrp="1"/>
          </p:cNvSpPr>
          <p:nvPr/>
        </p:nvSpPr>
        <p:spPr>
          <a:xfrm xmlns:a="http://schemas.openxmlformats.org/drawingml/2006/main">
            <a:off x="8067675" y="27908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Pairwise oracle-boundary F1</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within ±4 tokens</a:t>
            </a:r>
          </a:p>
        </p:txBody>
      </p:sp>
      <p:sp>
        <p:nvSpPr>
          <p:cNvPr id="8" name="">
            <a:extLst xmlns:a="http://schemas.openxmlformats.org/drawingml/2006/main">
              <a:ext uri="{FF2B5EF4-FFF2-40B4-BE49-F238E27FC236}">
                <a16:creationId xmlns:a16="http://schemas.microsoft.com/office/drawing/2014/main" id="{7029B71C-73CD-4316-A245-5B458B210905}"/>
              </a:ext>
            </a:extLst>
          </p:cNvPr>
          <p:cNvSpPr>
            <a:spLocks xmlns:a="http://schemas.openxmlformats.org/drawingml/2006/main" noGrp="1"/>
          </p:cNvSpPr>
          <p:nvPr/>
        </p:nvSpPr>
        <p:spPr>
          <a:xfrm xmlns:a="http://schemas.openxmlformats.org/drawingml/2006/main">
            <a:off x="8067675" y="393382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42E38"/>
                </a:solidFill>
                <a:latin typeface="Helvetica Neue"/>
                <a:ea typeface="Helvetica Neue"/>
                <a:cs typeface="Helvetica Neue"/>
              </a:defRPr>
            </a:pPr>
            <a:r>
              <a:rPr sz="3600" b="1">
                <a:solidFill>
                  <a:srgbClr val="142E38"/>
                </a:solidFill>
                <a:latin typeface="Helvetica Neue"/>
                <a:ea typeface="Helvetica Neue"/>
                <a:cs typeface="Helvetica Neue"/>
              </a:rPr>
              <a:t>0.020</a:t>
            </a:r>
          </a:p>
        </p:txBody>
      </p:sp>
      <p:sp>
        <p:nvSpPr>
          <p:cNvPr id="9" name="">
            <a:extLst xmlns:a="http://schemas.openxmlformats.org/drawingml/2006/main">
              <a:ext uri="{FF2B5EF4-FFF2-40B4-BE49-F238E27FC236}">
                <a16:creationId xmlns:a16="http://schemas.microsoft.com/office/drawing/2014/main" id="{21B9E15C-FCDD-4B3A-A443-808894DEC7C2}"/>
              </a:ext>
            </a:extLst>
          </p:cNvPr>
          <p:cNvSpPr>
            <a:spLocks xmlns:a="http://schemas.openxmlformats.org/drawingml/2006/main" noGrp="1"/>
          </p:cNvSpPr>
          <p:nvPr/>
        </p:nvSpPr>
        <p:spPr>
          <a:xfrm xmlns:a="http://schemas.openxmlformats.org/drawingml/2006/main">
            <a:off x="8067675" y="4629150"/>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Best worst-objective utility</a:t>
            </a:r>
          </a:p>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among tested rules</a:t>
            </a:r>
          </a:p>
        </p:txBody>
      </p:sp>
      <p:sp>
        <p:nvSpPr>
          <p:cNvPr id="10" name="">
            <a:extLst xmlns:a="http://schemas.openxmlformats.org/drawingml/2006/main">
              <a:ext uri="{FF2B5EF4-FFF2-40B4-BE49-F238E27FC236}">
                <a16:creationId xmlns:a16="http://schemas.microsoft.com/office/drawing/2014/main" id="{C74DFC88-707F-4D05-92B1-E472CEA748CF}"/>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SmolLM3-3B. Equal boundary budgets. Random utility = 0, target oracle = 1.</a:t>
            </a:r>
          </a:p>
        </p:txBody>
      </p:sp>
    </p:spTree>
    <p:extLst>
      <p:ext uri="{BB962C8B-B14F-4D97-AF65-F5344CB8AC3E}">
        <p14:creationId xmlns:p14="http://schemas.microsoft.com/office/powerpoint/2010/main" val="1679148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13A6D9-F4D0-43A5-BA3C-4779653F748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explicit handoff restores composition</a:t>
            </a:r>
          </a:p>
        </p:txBody>
      </p:sp>
      <p:sp>
        <p:nvSpPr>
          <p:cNvPr id="2" name="">
            <a:extLst xmlns:a="http://schemas.openxmlformats.org/drawingml/2006/main">
              <a:ext uri="{FF2B5EF4-FFF2-40B4-BE49-F238E27FC236}">
                <a16:creationId xmlns:a16="http://schemas.microsoft.com/office/drawing/2014/main" id="{32F0684F-A9BE-4D3B-9CBA-8946480E943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A CAUSAL STATE TEST</a:t>
            </a:r>
          </a:p>
        </p:txBody>
      </p:sp>
      <p:sp>
        <p:nvSpPr>
          <p:cNvPr id="3" name="">
            <a:extLst xmlns:a="http://schemas.openxmlformats.org/drawingml/2006/main">
              <a:ext uri="{FF2B5EF4-FFF2-40B4-BE49-F238E27FC236}">
                <a16:creationId xmlns:a16="http://schemas.microsoft.com/office/drawing/2014/main" id="{B1CB9329-47B1-49A3-8C43-FA75F112807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7EA2994B-5E80-4F99-A80A-7D43C612E3A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7851EF-8959-4139-929A-DFA4F1360773}"/>
              </a:ext>
            </a:extLst>
          </p:cNvPr>
          <p:cNvSpPr>
            <a:spLocks xmlns:a="http://schemas.openxmlformats.org/drawingml/2006/main" noGrp="1"/>
          </p:cNvSpPr>
          <p:nvPr/>
        </p:nvSpPr>
        <p:spPr>
          <a:xfrm xmlns:a="http://schemas.openxmlformats.org/drawingml/2006/main">
            <a:off x="609600" y="15811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77079"/>
                </a:solidFill>
                <a:latin typeface="Helvetica Neue"/>
                <a:ea typeface="Helvetica Neue"/>
                <a:cs typeface="Helvetica Neue"/>
              </a:defRPr>
            </a:pPr>
            <a:r>
              <a:rPr sz="1650" b="0">
                <a:solidFill>
                  <a:srgbClr val="577079"/>
                </a:solidFill>
                <a:latin typeface="Helvetica Neue"/>
                <a:ea typeface="Helvetica Neue"/>
                <a:cs typeface="Helvetica Neue"/>
              </a:rPr>
              <a:t>Eight-state program, followed by a state-to-answer lookup</a:t>
            </a:r>
          </a:p>
        </p:txBody>
      </p:sp>
      <p:graphicFrame>
        <p:nvGraphicFramePr>
          <p:cNvPr id="15" name="Chart"/>
          <p:cNvGraphicFramePr/>
          <p:nvPr/>
        </p:nvGraphicFramePr>
        <p:xfrm>
          <a:off xmlns:a="http://schemas.openxmlformats.org/drawingml/2006/main" x="609600" y="19812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6159bb7197584e80"/>
          </a:graphicData>
        </a:graphic>
      </p:graphicFrame>
      <p:sp>
        <p:nvSpPr>
          <p:cNvPr id="7" name="">
            <a:extLst xmlns:a="http://schemas.openxmlformats.org/drawingml/2006/main">
              <a:ext uri="{FF2B5EF4-FFF2-40B4-BE49-F238E27FC236}">
                <a16:creationId xmlns:a16="http://schemas.microsoft.com/office/drawing/2014/main" id="{D7004981-2BDC-49B1-9483-DFB60A23AF08}"/>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1453B7-64E2-4376-B474-1BE0AF32E8D6}"/>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The fresh call receives the state after the history is deleted.</a:t>
            </a:r>
          </a:p>
        </p:txBody>
      </p:sp>
      <p:sp>
        <p:nvSpPr>
          <p:cNvPr id="9" name="">
            <a:extLst xmlns:a="http://schemas.openxmlformats.org/drawingml/2006/main">
              <a:ext uri="{FF2B5EF4-FFF2-40B4-BE49-F238E27FC236}">
                <a16:creationId xmlns:a16="http://schemas.microsoft.com/office/drawing/2014/main" id="{538CDA85-5581-4E9A-8221-A7338D8226CB}"/>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Frozen Qwen2.5-32B, horizon 2, 8 states. Chance = 12.5%. Endpoint inference = 76.98%.</a:t>
            </a:r>
          </a:p>
        </p:txBody>
      </p:sp>
    </p:spTree>
    <p:extLst>
      <p:ext uri="{BB962C8B-B14F-4D97-AF65-F5344CB8AC3E}">
        <p14:creationId xmlns:p14="http://schemas.microsoft.com/office/powerpoint/2010/main" val="13163992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9C6026-AFEE-4E85-82F6-84A2D16E8719}"/>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Capacity and stable names matter separately</a:t>
            </a:r>
          </a:p>
        </p:txBody>
      </p:sp>
      <p:sp>
        <p:nvSpPr>
          <p:cNvPr id="2" name="">
            <a:extLst xmlns:a="http://schemas.openxmlformats.org/drawingml/2006/main">
              <a:ext uri="{FF2B5EF4-FFF2-40B4-BE49-F238E27FC236}">
                <a16:creationId xmlns:a16="http://schemas.microsoft.com/office/drawing/2014/main" id="{332EFD7E-4961-4C70-BD4B-6ADE89ACC1C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CONTROLLED PROOF STATES</a:t>
            </a:r>
          </a:p>
        </p:txBody>
      </p:sp>
      <p:sp>
        <p:nvSpPr>
          <p:cNvPr id="3" name="">
            <a:extLst xmlns:a="http://schemas.openxmlformats.org/drawingml/2006/main">
              <a:ext uri="{FF2B5EF4-FFF2-40B4-BE49-F238E27FC236}">
                <a16:creationId xmlns:a16="http://schemas.microsoft.com/office/drawing/2014/main" id="{A99FC227-21BF-4C24-8CC8-21D093C58A7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2756F315-83E0-4BBA-B7A4-66564F14ACF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
          <p:cNvGraphicFramePr/>
          <p:nvPr/>
        </p:nvGraphicFramePr>
        <p:xfrm>
          <a:off xmlns:a="http://schemas.openxmlformats.org/drawingml/2006/main" x="609600" y="1981200"/>
          <a:ext xmlns:a="http://schemas.openxmlformats.org/drawingml/2006/main" cx="10972800" cy="2952750"/>
        </p:xfrm>
        <a:graphic xmlns:a="http://schemas.openxmlformats.org/drawingml/2006/main">
          <a:graphicData uri="http://schemas.openxmlformats.org/drawingml/2006/table">
            <a:tbl>
              <a:tblPr/>
              <a:tblGrid>
                <a:gridCol w="2190750"/>
                <a:gridCol w="904875"/>
                <a:gridCol w="3400425"/>
                <a:gridCol w="4476750"/>
              </a:tblGrid>
              <a:tr h="590550">
                <a:tc>
                  <a:txBody>
                    <a:bodyPr/>
                    <a:lstStyle/>
                    <a:p>
                      <a:r>
                        <a:rPr sz="1650" b="1">
                          <a:solidFill>
                            <a:srgbClr val="FFFFFF"/>
                          </a:solidFill>
                          <a:latin typeface="Helvetica Neue"/>
                          <a:ea typeface="Helvetica Neue"/>
                          <a:cs typeface="Helvetica Neue"/>
                        </a:rPr>
                        <a:t>Code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Bits</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Naming</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Exact state</a:t>
                      </a:r>
                    </a:p>
                  </a:txBody>
                  <a:tcPr marL="91440" marR="91440" marT="45720" marB="45720">
                    <a:solidFill>
                      <a:srgbClr val="142E38"/>
                    </a:solidFill>
                  </a:tcPr>
                </a:tc>
              </a:tr>
              <a:tr h="590550">
                <a:tc>
                  <a:txBody>
                    <a:bodyPr/>
                    <a:lstStyle/>
                    <a:p>
                      <a:r>
                        <a:rPr sz="1650" b="0">
                          <a:solidFill>
                            <a:srgbClr val="142E38"/>
                          </a:solidFill>
                          <a:latin typeface="Helvetica Neue"/>
                          <a:ea typeface="Helvetica Neue"/>
                          <a:cs typeface="Helvetica Neue"/>
                        </a:rPr>
                        <a:t>Lossy</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Collisions required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Cannot recover all 16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Canonical</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One name per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E4F1EE"/>
                    </a:solidFill>
                  </a:tcPr>
                </a:tc>
              </a:tr>
              <a:tr h="590550">
                <a:tc>
                  <a:txBody>
                    <a:bodyPr/>
                    <a:lstStyle/>
                    <a:p>
                      <a:r>
                        <a:rPr sz="1650" b="0">
                          <a:solidFill>
                            <a:srgbClr val="142E38"/>
                          </a:solidFill>
                          <a:latin typeface="Helvetica Neue"/>
                          <a:ea typeface="Helvetica Neue"/>
                          <a:cs typeface="Helvetica Neue"/>
                        </a:rPr>
                        <a:t>Padded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Same stable naming</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Path-aliased</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Name depends on path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30–40% at depth 3</a:t>
                      </a:r>
                    </a:p>
                  </a:txBody>
                  <a:tcPr marL="91440" marR="91440" marT="45720" marB="45720">
                    <a:solidFill>
                      <a:srgbClr val="E4F1EE"/>
                    </a:solidFill>
                  </a:tcPr>
                </a:tc>
              </a:tr>
            </a:tbl>
          </a:graphicData>
        </a:graphic>
      </p:graphicFrame>
      <p:sp>
        <p:nvSpPr>
          <p:cNvPr id="6" name="">
            <a:extLst xmlns:a="http://schemas.openxmlformats.org/drawingml/2006/main">
              <a:ext uri="{FF2B5EF4-FFF2-40B4-BE49-F238E27FC236}">
                <a16:creationId xmlns:a16="http://schemas.microsoft.com/office/drawing/2014/main" id="{4A19655C-A33D-4466-9FC8-8B3D6CB43B43}"/>
              </a:ext>
            </a:extLst>
          </p:cNvPr>
          <p:cNvSpPr>
            <a:spLocks xmlns:a="http://schemas.openxmlformats.org/drawingml/2006/main" noGrp="1"/>
          </p:cNvSpPr>
          <p:nvPr/>
        </p:nvSpPr>
        <p:spPr>
          <a:xfrm xmlns:a="http://schemas.openxmlformats.org/drawingml/2006/main">
            <a:off x="609600" y="52768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5248CA-974E-4B3F-91F2-0ABBA4E17965}"/>
              </a:ext>
            </a:extLst>
          </p:cNvPr>
          <p:cNvSpPr>
            <a:spLocks xmlns:a="http://schemas.openxmlformats.org/drawingml/2006/main" noGrp="1"/>
          </p:cNvSpPr>
          <p:nvPr/>
        </p:nvSpPr>
        <p:spPr>
          <a:xfrm xmlns:a="http://schemas.openxmlformats.org/drawingml/2006/main">
            <a:off x="1381125" y="51530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At five bits, naming changes state recovery.</a:t>
            </a:r>
          </a:p>
        </p:txBody>
      </p:sp>
      <p:sp>
        <p:nvSpPr>
          <p:cNvPr id="8" name="">
            <a:extLst xmlns:a="http://schemas.openxmlformats.org/drawingml/2006/main">
              <a:ext uri="{FF2B5EF4-FFF2-40B4-BE49-F238E27FC236}">
                <a16:creationId xmlns:a16="http://schemas.microsoft.com/office/drawing/2014/main" id="{48668D05-82E0-4322-A0BE-92541340BD48}"/>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16 proof states, matched training data and compute, 3 seeds. H is total horizon; depth counts active deductions.</a:t>
            </a:r>
          </a:p>
        </p:txBody>
      </p:sp>
    </p:spTree>
    <p:extLst>
      <p:ext uri="{BB962C8B-B14F-4D97-AF65-F5344CB8AC3E}">
        <p14:creationId xmlns:p14="http://schemas.microsoft.com/office/powerpoint/2010/main" val="13277875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C56966-C3CA-4189-8CF5-0E7B7408341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Local errors accumulate under repeated use</a:t>
            </a:r>
          </a:p>
        </p:txBody>
      </p:sp>
      <p:sp>
        <p:nvSpPr>
          <p:cNvPr id="2" name="">
            <a:extLst xmlns:a="http://schemas.openxmlformats.org/drawingml/2006/main">
              <a:ext uri="{FF2B5EF4-FFF2-40B4-BE49-F238E27FC236}">
                <a16:creationId xmlns:a16="http://schemas.microsoft.com/office/drawing/2014/main" id="{911D7041-F896-4E2A-85CA-3502EC21859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LIMIT OF THE INTERFACE</a:t>
            </a:r>
          </a:p>
        </p:txBody>
      </p:sp>
      <p:sp>
        <p:nvSpPr>
          <p:cNvPr id="3" name="">
            <a:extLst xmlns:a="http://schemas.openxmlformats.org/drawingml/2006/main">
              <a:ext uri="{FF2B5EF4-FFF2-40B4-BE49-F238E27FC236}">
                <a16:creationId xmlns:a16="http://schemas.microsoft.com/office/drawing/2014/main" id="{16ADCC99-0209-4BAB-8CFE-54D19134C15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77305299-D99E-4A57-96DB-1F1193465717}"/>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63C774-C639-49C3-AFFC-6631176A0797}"/>
              </a:ext>
            </a:extLst>
          </p:cNvPr>
          <p:cNvSpPr>
            <a:spLocks xmlns:a="http://schemas.openxmlformats.org/drawingml/2006/main" noGrp="1"/>
          </p:cNvSpPr>
          <p:nvPr/>
        </p:nvSpPr>
        <p:spPr>
          <a:xfrm xmlns:a="http://schemas.openxmlformats.org/drawingml/2006/main">
            <a:off x="609600" y="2085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C97433"/>
                </a:solidFill>
                <a:latin typeface="Helvetica Neue"/>
                <a:ea typeface="Helvetica Neue"/>
                <a:cs typeface="Helvetica Neue"/>
              </a:defRPr>
            </a:pPr>
            <a:r>
              <a:rPr sz="6600" b="1">
                <a:solidFill>
                  <a:srgbClr val="C97433"/>
                </a:solidFill>
                <a:latin typeface="Helvetica Neue"/>
                <a:ea typeface="Helvetica Neue"/>
                <a:cs typeface="Helvetica Neue"/>
              </a:rPr>
              <a:t>≈ 89%</a:t>
            </a:r>
          </a:p>
        </p:txBody>
      </p:sp>
      <p:sp>
        <p:nvSpPr>
          <p:cNvPr id="6" name="">
            <a:extLst xmlns:a="http://schemas.openxmlformats.org/drawingml/2006/main">
              <a:ext uri="{FF2B5EF4-FFF2-40B4-BE49-F238E27FC236}">
                <a16:creationId xmlns:a16="http://schemas.microsoft.com/office/drawing/2014/main" id="{6610A222-ABB1-42B9-A8BA-1142FAF597EC}"/>
              </a:ext>
            </a:extLst>
          </p:cNvPr>
          <p:cNvSpPr>
            <a:spLocks xmlns:a="http://schemas.openxmlformats.org/drawingml/2006/main" noGrp="1"/>
          </p:cNvSpPr>
          <p:nvPr/>
        </p:nvSpPr>
        <p:spPr>
          <a:xfrm xmlns:a="http://schemas.openxmlformats.org/drawingml/2006/main">
            <a:off x="609600" y="32194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local transitions</a:t>
            </a:r>
          </a:p>
        </p:txBody>
      </p:sp>
      <p:sp>
        <p:nvSpPr>
          <p:cNvPr id="7" name="">
            <a:extLst xmlns:a="http://schemas.openxmlformats.org/drawingml/2006/main">
              <a:ext uri="{FF2B5EF4-FFF2-40B4-BE49-F238E27FC236}">
                <a16:creationId xmlns:a16="http://schemas.microsoft.com/office/drawing/2014/main" id="{34BA644E-BA0E-4729-B648-1C655063C4B0}"/>
              </a:ext>
            </a:extLst>
          </p:cNvPr>
          <p:cNvSpPr>
            <a:spLocks xmlns:a="http://schemas.openxmlformats.org/drawingml/2006/main" noGrp="1"/>
          </p:cNvSpPr>
          <p:nvPr/>
        </p:nvSpPr>
        <p:spPr>
          <a:xfrm xmlns:a="http://schemas.openxmlformats.org/drawingml/2006/main">
            <a:off x="6667500" y="2085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142E38"/>
                </a:solidFill>
                <a:latin typeface="Helvetica Neue"/>
                <a:ea typeface="Helvetica Neue"/>
                <a:cs typeface="Helvetica Neue"/>
              </a:defRPr>
            </a:pPr>
            <a:r>
              <a:rPr sz="6600" b="1">
                <a:solidFill>
                  <a:srgbClr val="142E38"/>
                </a:solidFill>
                <a:latin typeface="Helvetica Neue"/>
                <a:ea typeface="Helvetica Neue"/>
                <a:cs typeface="Helvetica Neue"/>
              </a:rPr>
              <a:t>7.92%</a:t>
            </a:r>
          </a:p>
        </p:txBody>
      </p:sp>
      <p:sp>
        <p:nvSpPr>
          <p:cNvPr id="8" name="">
            <a:extLst xmlns:a="http://schemas.openxmlformats.org/drawingml/2006/main">
              <a:ext uri="{FF2B5EF4-FFF2-40B4-BE49-F238E27FC236}">
                <a16:creationId xmlns:a16="http://schemas.microsoft.com/office/drawing/2014/main" id="{307FDC96-40C1-4739-B31D-505A4490A129}"/>
              </a:ext>
            </a:extLst>
          </p:cNvPr>
          <p:cNvSpPr>
            <a:spLocks xmlns:a="http://schemas.openxmlformats.org/drawingml/2006/main" noGrp="1"/>
          </p:cNvSpPr>
          <p:nvPr/>
        </p:nvSpPr>
        <p:spPr>
          <a:xfrm xmlns:a="http://schemas.openxmlformats.org/drawingml/2006/main">
            <a:off x="6667500" y="3219450"/>
            <a:ext cx="4905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final answers at H = 32</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37a01e02dfb4c4f"/>
          <a:stretch xmlns:a="http://schemas.openxmlformats.org/drawingml/2006/main"/>
        </p:blipFill>
        <p:spPr>
          <a:xfrm xmlns:a="http://schemas.openxmlformats.org/drawingml/2006/main">
            <a:off x="2215576" y="4038600"/>
            <a:ext cx="7760848" cy="7048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54252AB-8283-4AE5-9B72-653338435C9D}"/>
              </a:ext>
            </a:extLst>
          </p:cNvPr>
          <p:cNvSpPr>
            <a:spLocks xmlns:a="http://schemas.openxmlformats.org/drawingml/2006/main" noGrp="1"/>
          </p:cNvSpPr>
          <p:nvPr/>
        </p:nvSpPr>
        <p:spPr>
          <a:xfrm xmlns:a="http://schemas.openxmlformats.org/drawingml/2006/main">
            <a:off x="609600" y="4876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77079"/>
                </a:solidFill>
                <a:latin typeface="Helvetica Neue"/>
                <a:ea typeface="Helvetica Neue"/>
                <a:cs typeface="Helvetica Neue"/>
              </a:defRPr>
            </a:pPr>
            <a:r>
              <a:rPr sz="1875" b="0">
                <a:solidFill>
                  <a:srgbClr val="577079"/>
                </a:solidFill>
                <a:latin typeface="Helvetica Neue"/>
                <a:ea typeface="Helvetica Neue"/>
                <a:cs typeface="Helvetica Neue"/>
              </a:rPr>
              <a:t>Chance: 6.25%       One-pass reasoning: 5.83%</a:t>
            </a:r>
          </a:p>
        </p:txBody>
      </p:sp>
      <p:sp>
        <p:nvSpPr>
          <p:cNvPr id="11" name="">
            <a:extLst xmlns:a="http://schemas.openxmlformats.org/drawingml/2006/main">
              <a:ext uri="{FF2B5EF4-FFF2-40B4-BE49-F238E27FC236}">
                <a16:creationId xmlns:a16="http://schemas.microsoft.com/office/drawing/2014/main" id="{6564AC5D-2F19-4709-9293-30BB4A6F26B1}"/>
              </a:ext>
            </a:extLst>
          </p:cNvPr>
          <p:cNvSpPr>
            <a:spLocks xmlns:a="http://schemas.openxmlformats.org/drawingml/2006/main" noGrp="1"/>
          </p:cNvSpPr>
          <p:nvPr/>
        </p:nvSpPr>
        <p:spPr>
          <a:xfrm xmlns:a="http://schemas.openxmlformats.org/drawingml/2006/main">
            <a:off x="609600" y="53149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AC0726-5D52-4A4D-B89C-2C95240AC07A}"/>
              </a:ext>
            </a:extLst>
          </p:cNvPr>
          <p:cNvSpPr>
            <a:spLocks xmlns:a="http://schemas.openxmlformats.org/drawingml/2006/main" noGrp="1"/>
          </p:cNvSpPr>
          <p:nvPr/>
        </p:nvSpPr>
        <p:spPr>
          <a:xfrm xmlns:a="http://schemas.openxmlformats.org/drawingml/2006/main">
            <a:off x="1381125" y="51911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Reliable single steps do not ensure reliable long executions.</a:t>
            </a:r>
          </a:p>
        </p:txBody>
      </p:sp>
    </p:spTree>
    <p:extLst>
      <p:ext uri="{BB962C8B-B14F-4D97-AF65-F5344CB8AC3E}">
        <p14:creationId xmlns:p14="http://schemas.microsoft.com/office/powerpoint/2010/main" val="18542349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ACFB51-7EF5-49BE-8471-A0CACF7D1B0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Reasoning and answer rates also reverse</a:t>
            </a:r>
          </a:p>
        </p:txBody>
      </p:sp>
      <p:sp>
        <p:nvSpPr>
          <p:cNvPr id="2" name="">
            <a:extLst xmlns:a="http://schemas.openxmlformats.org/drawingml/2006/main">
              <a:ext uri="{FF2B5EF4-FFF2-40B4-BE49-F238E27FC236}">
                <a16:creationId xmlns:a16="http://schemas.microsoft.com/office/drawing/2014/main" id="{330378CC-03C9-4ED4-BDF2-56B09C36E01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 · ONE COMPLETED COMPARISON</a:t>
            </a:r>
          </a:p>
        </p:txBody>
      </p:sp>
      <p:sp>
        <p:nvSpPr>
          <p:cNvPr id="3" name="">
            <a:extLst xmlns:a="http://schemas.openxmlformats.org/drawingml/2006/main">
              <a:ext uri="{FF2B5EF4-FFF2-40B4-BE49-F238E27FC236}">
                <a16:creationId xmlns:a16="http://schemas.microsoft.com/office/drawing/2014/main" id="{4547CAC6-57B1-447C-B2B0-4C0EA37F5CC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833B3703-E4DB-46A4-945C-337AB113236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09775"/>
          <a:ext xmlns:a="http://schemas.openxmlformats.org/drawingml/2006/main" cx="10668000" cy="3371850"/>
        </p:xfrm>
        <a:graphic xmlns:a="http://schemas.openxmlformats.org/drawingml/2006/main">
          <a:graphicData uri="http://schemas.openxmlformats.org/drawingml/2006/chart">
            <c:chart xmlns:r="http://schemas.openxmlformats.org/officeDocument/2006/relationships" xmlns:c="http://schemas.openxmlformats.org/drawingml/2006/chart" r:id="Rdc36400685dc437d"/>
          </a:graphicData>
        </a:graphic>
      </p:graphicFrame>
      <p:sp>
        <p:nvSpPr>
          <p:cNvPr id="6" name="">
            <a:extLst xmlns:a="http://schemas.openxmlformats.org/drawingml/2006/main">
              <a:ext uri="{FF2B5EF4-FFF2-40B4-BE49-F238E27FC236}">
                <a16:creationId xmlns:a16="http://schemas.microsoft.com/office/drawing/2014/main" id="{BF1F7654-7B66-4843-89D5-5AEAB19D1FDF}"/>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adapter value. MetaMathQA. This measures storage for retained next-token gain.</a:t>
            </a:r>
          </a:p>
        </p:txBody>
      </p:sp>
    </p:spTree>
    <p:extLst>
      <p:ext uri="{BB962C8B-B14F-4D97-AF65-F5344CB8AC3E}">
        <p14:creationId xmlns:p14="http://schemas.microsoft.com/office/powerpoint/2010/main" val="12732760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6969F3-9B39-4D0B-99A2-92BEB1F7BD6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experiments establish</a:t>
            </a:r>
          </a:p>
        </p:txBody>
      </p:sp>
      <p:sp>
        <p:nvSpPr>
          <p:cNvPr id="2" name="">
            <a:extLst xmlns:a="http://schemas.openxmlformats.org/drawingml/2006/main">
              <a:ext uri="{FF2B5EF4-FFF2-40B4-BE49-F238E27FC236}">
                <a16:creationId xmlns:a16="http://schemas.microsoft.com/office/drawing/2014/main" id="{6704B92D-01BB-4568-ACAE-A12727C8A2CB}"/>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a:t>
            </a:r>
          </a:p>
        </p:txBody>
      </p:sp>
      <p:sp>
        <p:nvSpPr>
          <p:cNvPr id="3" name="">
            <a:extLst xmlns:a="http://schemas.openxmlformats.org/drawingml/2006/main">
              <a:ext uri="{FF2B5EF4-FFF2-40B4-BE49-F238E27FC236}">
                <a16:creationId xmlns:a16="http://schemas.microsoft.com/office/drawing/2014/main" id="{96FC6D79-84EE-4F27-86EA-49C6A40DBEB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146FF69F-DD9D-44FC-82F7-8818097EADB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1FD250-BF7D-4D00-8477-31AEC19AC4B2}"/>
              </a:ext>
            </a:extLst>
          </p:cNvPr>
          <p:cNvSpPr>
            <a:spLocks xmlns:a="http://schemas.openxmlformats.org/drawingml/2006/main" noGrp="1"/>
          </p:cNvSpPr>
          <p:nvPr/>
        </p:nvSpPr>
        <p:spPr>
          <a:xfrm xmlns:a="http://schemas.openxmlformats.org/drawingml/2006/main">
            <a:off x="609600" y="20955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75C95B0F-C638-42E7-A632-E70539A5A1D1}"/>
              </a:ext>
            </a:extLst>
          </p:cNvPr>
          <p:cNvSpPr>
            <a:spLocks xmlns:a="http://schemas.openxmlformats.org/drawingml/2006/main" noGrp="1"/>
          </p:cNvSpPr>
          <p:nvPr/>
        </p:nvSpPr>
        <p:spPr>
          <a:xfrm xmlns:a="http://schemas.openxmlformats.org/drawingml/2006/main">
            <a:off x="609600" y="2628900"/>
            <a:ext cx="5238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measured file rate</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for a stated retained behavior</a:t>
            </a:r>
          </a:p>
        </p:txBody>
      </p:sp>
      <p:sp>
        <p:nvSpPr>
          <p:cNvPr id="7" name="">
            <a:extLst xmlns:a="http://schemas.openxmlformats.org/drawingml/2006/main">
              <a:ext uri="{FF2B5EF4-FFF2-40B4-BE49-F238E27FC236}">
                <a16:creationId xmlns:a16="http://schemas.microsoft.com/office/drawing/2014/main" id="{D4BAB74E-7CB5-4B39-9546-AD6000563ECD}"/>
              </a:ext>
            </a:extLst>
          </p:cNvPr>
          <p:cNvSpPr>
            <a:spLocks xmlns:a="http://schemas.openxmlformats.org/drawingml/2006/main" noGrp="1"/>
          </p:cNvSpPr>
          <p:nvPr/>
        </p:nvSpPr>
        <p:spPr>
          <a:xfrm xmlns:a="http://schemas.openxmlformats.org/drawingml/2006/main">
            <a:off x="609600" y="41052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007F7B"/>
                </a:solidFill>
                <a:latin typeface="Helvetica Neue"/>
                <a:ea typeface="Helvetica Neue"/>
                <a:cs typeface="Helvetica Neue"/>
              </a:defRPr>
            </a:pPr>
            <a:r>
              <a:rPr sz="2250" b="0">
                <a:solidFill>
                  <a:srgbClr val="007F7B"/>
                </a:solidFill>
                <a:latin typeface="Helvetica Neue"/>
                <a:ea typeface="Helvetica Neue"/>
                <a:cs typeface="Helvetica Neue"/>
              </a:rPr>
              <a:t>The receiver changes the cost.</a:t>
            </a:r>
          </a:p>
        </p:txBody>
      </p:sp>
      <p:sp>
        <p:nvSpPr>
          <p:cNvPr id="8" name="">
            <a:extLst xmlns:a="http://schemas.openxmlformats.org/drawingml/2006/main">
              <a:ext uri="{FF2B5EF4-FFF2-40B4-BE49-F238E27FC236}">
                <a16:creationId xmlns:a16="http://schemas.microsoft.com/office/drawing/2014/main" id="{1AF5B226-5CFA-4142-84F5-3267D78F55C0}"/>
              </a:ext>
            </a:extLst>
          </p:cNvPr>
          <p:cNvSpPr>
            <a:spLocks xmlns:a="http://schemas.openxmlformats.org/drawingml/2006/main" noGrp="1"/>
          </p:cNvSpPr>
          <p:nvPr/>
        </p:nvSpPr>
        <p:spPr>
          <a:xfrm xmlns:a="http://schemas.openxmlformats.org/drawingml/2006/main">
            <a:off x="6667500" y="20955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9" name="">
            <a:extLst xmlns:a="http://schemas.openxmlformats.org/drawingml/2006/main">
              <a:ext uri="{FF2B5EF4-FFF2-40B4-BE49-F238E27FC236}">
                <a16:creationId xmlns:a16="http://schemas.microsoft.com/office/drawing/2014/main" id="{4FD82FBB-2367-4EEB-BEEB-FF440E8B7FFA}"/>
              </a:ext>
            </a:extLst>
          </p:cNvPr>
          <p:cNvSpPr>
            <a:spLocks xmlns:a="http://schemas.openxmlformats.org/drawingml/2006/main" noGrp="1"/>
          </p:cNvSpPr>
          <p:nvPr/>
        </p:nvSpPr>
        <p:spPr>
          <a:xfrm xmlns:a="http://schemas.openxmlformats.org/drawingml/2006/main">
            <a:off x="6667500" y="26289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state must support</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its intended next computation</a:t>
            </a:r>
          </a:p>
        </p:txBody>
      </p:sp>
      <p:sp>
        <p:nvSpPr>
          <p:cNvPr id="10" name="">
            <a:extLst xmlns:a="http://schemas.openxmlformats.org/drawingml/2006/main">
              <a:ext uri="{FF2B5EF4-FFF2-40B4-BE49-F238E27FC236}">
                <a16:creationId xmlns:a16="http://schemas.microsoft.com/office/drawing/2014/main" id="{5EC7746C-3017-41FB-A10C-6DD19341A789}"/>
              </a:ext>
            </a:extLst>
          </p:cNvPr>
          <p:cNvSpPr>
            <a:spLocks xmlns:a="http://schemas.openxmlformats.org/drawingml/2006/main" noGrp="1"/>
          </p:cNvSpPr>
          <p:nvPr/>
        </p:nvSpPr>
        <p:spPr>
          <a:xfrm xmlns:a="http://schemas.openxmlformats.org/drawingml/2006/main">
            <a:off x="6667500" y="41052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C97433"/>
                </a:solidFill>
                <a:latin typeface="Helvetica Neue"/>
                <a:ea typeface="Helvetica Neue"/>
                <a:cs typeface="Helvetica Neue"/>
              </a:defRPr>
            </a:pPr>
            <a:r>
              <a:rPr sz="2250" b="0">
                <a:solidFill>
                  <a:srgbClr val="C97433"/>
                </a:solidFill>
                <a:latin typeface="Helvetica Neue"/>
                <a:ea typeface="Helvetica Neue"/>
                <a:cs typeface="Helvetica Neue"/>
              </a:rPr>
              <a:t>Repeated use adds an update requirement.</a:t>
            </a:r>
          </a:p>
        </p:txBody>
      </p:sp>
      <p:sp>
        <p:nvSpPr>
          <p:cNvPr id="11" name="">
            <a:extLst xmlns:a="http://schemas.openxmlformats.org/drawingml/2006/main">
              <a:ext uri="{FF2B5EF4-FFF2-40B4-BE49-F238E27FC236}">
                <a16:creationId xmlns:a16="http://schemas.microsoft.com/office/drawing/2014/main" id="{451356B3-981A-456B-997D-47EEAD157E6D}"/>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F74278-787B-4B5E-8820-1F9E62B8754F}"/>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A common interpretation; a predictive law remains open.</a:t>
            </a:r>
          </a:p>
        </p:txBody>
      </p:sp>
    </p:spTree>
    <p:extLst>
      <p:ext uri="{BB962C8B-B14F-4D97-AF65-F5344CB8AC3E}">
        <p14:creationId xmlns:p14="http://schemas.microsoft.com/office/powerpoint/2010/main" val="17752034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36438B-CA80-490E-9F7C-D9122520BB0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next tests must make new predictions</a:t>
            </a:r>
          </a:p>
        </p:txBody>
      </p:sp>
      <p:sp>
        <p:nvSpPr>
          <p:cNvPr id="2" name="">
            <a:extLst xmlns:a="http://schemas.openxmlformats.org/drawingml/2006/main">
              <a:ext uri="{FF2B5EF4-FFF2-40B4-BE49-F238E27FC236}">
                <a16:creationId xmlns:a16="http://schemas.microsoft.com/office/drawing/2014/main" id="{0ECCA306-71A6-45E4-B322-E5EFFB66DF1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PERSPECTIVES</a:t>
            </a:r>
          </a:p>
        </p:txBody>
      </p:sp>
      <p:sp>
        <p:nvSpPr>
          <p:cNvPr id="3" name="">
            <a:extLst xmlns:a="http://schemas.openxmlformats.org/drawingml/2006/main">
              <a:ext uri="{FF2B5EF4-FFF2-40B4-BE49-F238E27FC236}">
                <a16:creationId xmlns:a16="http://schemas.microsoft.com/office/drawing/2014/main" id="{4AC3CB53-F095-4DB7-A05F-EC0436D1F20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280928C4-8A40-471D-96E5-2713355C0C3C}"/>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5E7D10-5B8B-4970-92A2-5F951EE0B94D}"/>
              </a:ext>
            </a:extLst>
          </p:cNvPr>
          <p:cNvSpPr>
            <a:spLocks xmlns:a="http://schemas.openxmlformats.org/drawingml/2006/main" noGrp="1"/>
          </p:cNvSpPr>
          <p:nvPr/>
        </p:nvSpPr>
        <p:spPr>
          <a:xfrm xmlns:a="http://schemas.openxmlformats.org/drawingml/2006/main">
            <a:off x="609600" y="20002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007F7B"/>
                </a:solidFill>
                <a:latin typeface="Helvetica Neue"/>
                <a:ea typeface="Helvetica Neue"/>
                <a:cs typeface="Helvetica Neue"/>
              </a:defRPr>
            </a:pPr>
            <a:r>
              <a:rPr sz="3600" b="1">
                <a:solidFill>
                  <a:srgbClr val="007F7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33A8B0EF-4637-4ECE-BDE1-4F73B7CA85A4}"/>
              </a:ext>
            </a:extLst>
          </p:cNvPr>
          <p:cNvSpPr>
            <a:spLocks xmlns:a="http://schemas.openxmlformats.org/drawingml/2006/main" noGrp="1"/>
          </p:cNvSpPr>
          <p:nvPr/>
        </p:nvSpPr>
        <p:spPr>
          <a:xfrm xmlns:a="http://schemas.openxmlformats.org/drawingml/2006/main">
            <a:off x="1905000" y="202882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Predict before training</a:t>
            </a:r>
          </a:p>
        </p:txBody>
      </p:sp>
      <p:sp>
        <p:nvSpPr>
          <p:cNvPr id="7" name="">
            <a:extLst xmlns:a="http://schemas.openxmlformats.org/drawingml/2006/main">
              <a:ext uri="{FF2B5EF4-FFF2-40B4-BE49-F238E27FC236}">
                <a16:creationId xmlns:a16="http://schemas.microsoft.com/office/drawing/2014/main" id="{85F7C5C5-05ED-4B09-92A5-0AB33B7C447F}"/>
              </a:ext>
            </a:extLst>
          </p:cNvPr>
          <p:cNvSpPr>
            <a:spLocks xmlns:a="http://schemas.openxmlformats.org/drawingml/2006/main" noGrp="1"/>
          </p:cNvSpPr>
          <p:nvPr/>
        </p:nvSpPr>
        <p:spPr>
          <a:xfrm xmlns:a="http://schemas.openxmlformats.org/drawingml/2006/main">
            <a:off x="1905000" y="2724150"/>
            <a:ext cx="938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Use span-specific correction spectra on new models and tasks.</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Freeze predictions of R* before observing the adapter rates.</a:t>
            </a:r>
          </a:p>
        </p:txBody>
      </p:sp>
      <p:sp>
        <p:nvSpPr>
          <p:cNvPr id="8" name="">
            <a:extLst xmlns:a="http://schemas.openxmlformats.org/drawingml/2006/main">
              <a:ext uri="{FF2B5EF4-FFF2-40B4-BE49-F238E27FC236}">
                <a16:creationId xmlns:a16="http://schemas.microsoft.com/office/drawing/2014/main" id="{A95B0BFB-6DAF-4072-8CD1-B75AD1A1E297}"/>
              </a:ext>
            </a:extLst>
          </p:cNvPr>
          <p:cNvSpPr>
            <a:spLocks xmlns:a="http://schemas.openxmlformats.org/drawingml/2006/main" noGrp="1"/>
          </p:cNvSpPr>
          <p:nvPr/>
        </p:nvSpPr>
        <p:spPr>
          <a:xfrm xmlns:a="http://schemas.openxmlformats.org/drawingml/2006/main">
            <a:off x="609600" y="3962400"/>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6B6BB2-ADF4-4331-A2EE-6142331AFABA}"/>
              </a:ext>
            </a:extLst>
          </p:cNvPr>
          <p:cNvSpPr>
            <a:spLocks xmlns:a="http://schemas.openxmlformats.org/drawingml/2006/main" noGrp="1"/>
          </p:cNvSpPr>
          <p:nvPr/>
        </p:nvSpPr>
        <p:spPr>
          <a:xfrm xmlns:a="http://schemas.openxmlformats.org/drawingml/2006/main">
            <a:off x="609600" y="43815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C97433"/>
                </a:solidFill>
                <a:latin typeface="Helvetica Neue"/>
                <a:ea typeface="Helvetica Neue"/>
                <a:cs typeface="Helvetica Neue"/>
              </a:defRPr>
            </a:pPr>
            <a:r>
              <a:rPr sz="3600" b="1">
                <a:solidFill>
                  <a:srgbClr val="C97433"/>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7B395E0-9C26-422A-837A-BB56E54EE19D}"/>
              </a:ext>
            </a:extLst>
          </p:cNvPr>
          <p:cNvSpPr>
            <a:spLocks xmlns:a="http://schemas.openxmlformats.org/drawingml/2006/main" noGrp="1"/>
          </p:cNvSpPr>
          <p:nvPr/>
        </p:nvSpPr>
        <p:spPr>
          <a:xfrm xmlns:a="http://schemas.openxmlformats.org/drawingml/2006/main">
            <a:off x="1905000" y="441007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Follow state use along the rate ladder</a:t>
            </a:r>
          </a:p>
        </p:txBody>
      </p:sp>
      <p:sp>
        <p:nvSpPr>
          <p:cNvPr id="11" name="">
            <a:extLst xmlns:a="http://schemas.openxmlformats.org/drawingml/2006/main">
              <a:ext uri="{FF2B5EF4-FFF2-40B4-BE49-F238E27FC236}">
                <a16:creationId xmlns:a16="http://schemas.microsoft.com/office/drawing/2014/main" id="{4D967ADE-48E4-4470-8902-3E090A6323BE}"/>
              </a:ext>
            </a:extLst>
          </p:cNvPr>
          <p:cNvSpPr>
            <a:spLocks xmlns:a="http://schemas.openxmlformats.org/drawingml/2006/main" noGrp="1"/>
          </p:cNvSpPr>
          <p:nvPr/>
        </p:nvSpPr>
        <p:spPr>
          <a:xfrm xmlns:a="http://schemas.openxmlformats.org/drawingml/2006/main">
            <a:off x="1905000" y="5095875"/>
            <a:ext cx="9382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Measure decoding, handoff, and answer behavior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while compressing the same reasoning adapter.</a:t>
            </a:r>
          </a:p>
        </p:txBody>
      </p:sp>
    </p:spTree>
    <p:extLst>
      <p:ext uri="{BB962C8B-B14F-4D97-AF65-F5344CB8AC3E}">
        <p14:creationId xmlns:p14="http://schemas.microsoft.com/office/powerpoint/2010/main" val="770818847"/>
      </p:ext>
    </p:extLst>
  </p:cSld>
</p:sld>
</file>

<file path=ppt/slides/slide20.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C55748-3548-4D9C-8859-C7FEBCF67B17}"/>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Useful information depends on its use</a:t>
            </a:r>
          </a:p>
        </p:txBody>
      </p:sp>
      <p:sp>
        <p:nvSpPr>
          <p:cNvPr id="2" name="">
            <a:extLst xmlns:a="http://schemas.openxmlformats.org/drawingml/2006/main">
              <a:ext uri="{FF2B5EF4-FFF2-40B4-BE49-F238E27FC236}">
                <a16:creationId xmlns:a16="http://schemas.microsoft.com/office/drawing/2014/main" id="{A083822A-1B34-4A65-BD0F-77C85FD7D24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BA14CC8B-9934-4460-B642-552C3185E19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3DD0550-8062-48B5-A7AB-0A4D17386C0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09ECA7-1B7F-451F-8F61-40ACC5614834}"/>
              </a:ext>
            </a:extLst>
          </p:cNvPr>
          <p:cNvSpPr>
            <a:spLocks xmlns:a="http://schemas.openxmlformats.org/drawingml/2006/main" noGrp="1"/>
          </p:cNvSpPr>
          <p:nvPr/>
        </p:nvSpPr>
        <p:spPr>
          <a:xfrm xmlns:a="http://schemas.openxmlformats.org/drawingml/2006/main">
            <a:off x="609600" y="2143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78C8BE"/>
                </a:solidFill>
                <a:latin typeface="Helvetica Neue"/>
                <a:ea typeface="Helvetica Neue"/>
                <a:cs typeface="Helvetica Neue"/>
              </a:defRPr>
            </a:pPr>
            <a:r>
              <a:rPr sz="4125" b="1">
                <a:solidFill>
                  <a:srgbClr val="78C8BE"/>
                </a:solidFill>
                <a:latin typeface="Helvetica Neue"/>
                <a:ea typeface="Helvetica Neue"/>
                <a:cs typeface="Helvetica Neue"/>
              </a:rPr>
              <a:t>Receiver</a:t>
            </a:r>
          </a:p>
        </p:txBody>
      </p:sp>
      <p:sp>
        <p:nvSpPr>
          <p:cNvPr id="6" name="">
            <a:extLst xmlns:a="http://schemas.openxmlformats.org/drawingml/2006/main">
              <a:ext uri="{FF2B5EF4-FFF2-40B4-BE49-F238E27FC236}">
                <a16:creationId xmlns:a16="http://schemas.microsoft.com/office/drawing/2014/main" id="{1A3247CE-274D-4A22-B1F2-C294C5C97E85}"/>
              </a:ext>
            </a:extLst>
          </p:cNvPr>
          <p:cNvSpPr>
            <a:spLocks xmlns:a="http://schemas.openxmlformats.org/drawingml/2006/main" noGrp="1"/>
          </p:cNvSpPr>
          <p:nvPr/>
        </p:nvSpPr>
        <p:spPr>
          <a:xfrm xmlns:a="http://schemas.openxmlformats.org/drawingml/2006/main">
            <a:off x="609600" y="29051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model must use the information?</a:t>
            </a:r>
          </a:p>
        </p:txBody>
      </p:sp>
      <p:sp>
        <p:nvSpPr>
          <p:cNvPr id="7" name="">
            <a:extLst xmlns:a="http://schemas.openxmlformats.org/drawingml/2006/main">
              <a:ext uri="{FF2B5EF4-FFF2-40B4-BE49-F238E27FC236}">
                <a16:creationId xmlns:a16="http://schemas.microsoft.com/office/drawing/2014/main" id="{637F2D87-2436-48E4-9889-B8029AABE819}"/>
              </a:ext>
            </a:extLst>
          </p:cNvPr>
          <p:cNvSpPr>
            <a:spLocks xmlns:a="http://schemas.openxmlformats.org/drawingml/2006/main" noGrp="1"/>
          </p:cNvSpPr>
          <p:nvPr/>
        </p:nvSpPr>
        <p:spPr>
          <a:xfrm xmlns:a="http://schemas.openxmlformats.org/drawingml/2006/main">
            <a:off x="609600" y="3962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E4AA79"/>
                </a:solidFill>
                <a:latin typeface="Helvetica Neue"/>
                <a:ea typeface="Helvetica Neue"/>
                <a:cs typeface="Helvetica Neue"/>
              </a:defRPr>
            </a:pPr>
            <a:r>
              <a:rPr sz="4125" b="1">
                <a:solidFill>
                  <a:srgbClr val="E4AA79"/>
                </a:solidFill>
                <a:latin typeface="Helvetica Neue"/>
                <a:ea typeface="Helvetica Neue"/>
                <a:cs typeface="Helvetica Neue"/>
              </a:rPr>
              <a:t>Task and update rule</a:t>
            </a:r>
          </a:p>
        </p:txBody>
      </p:sp>
      <p:sp>
        <p:nvSpPr>
          <p:cNvPr id="8" name="">
            <a:extLst xmlns:a="http://schemas.openxmlformats.org/drawingml/2006/main">
              <a:ext uri="{FF2B5EF4-FFF2-40B4-BE49-F238E27FC236}">
                <a16:creationId xmlns:a16="http://schemas.microsoft.com/office/drawing/2014/main" id="{81C8D14D-C80A-4B0B-94CF-14E9B39F941D}"/>
              </a:ext>
            </a:extLst>
          </p:cNvPr>
          <p:cNvSpPr>
            <a:spLocks xmlns:a="http://schemas.openxmlformats.org/drawingml/2006/main" noGrp="1"/>
          </p:cNvSpPr>
          <p:nvPr/>
        </p:nvSpPr>
        <p:spPr>
          <a:xfrm xmlns:a="http://schemas.openxmlformats.org/drawingml/2006/main">
            <a:off x="609600" y="47339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behavior must survive, and for how long?</a:t>
            </a:r>
          </a:p>
        </p:txBody>
      </p:sp>
    </p:spTree>
    <p:extLst>
      <p:ext uri="{BB962C8B-B14F-4D97-AF65-F5344CB8AC3E}">
        <p14:creationId xmlns:p14="http://schemas.microsoft.com/office/powerpoint/2010/main" val="4679047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25AFB-3C49-4505-9779-14690755E25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Equal snapshot information, unequal memory</a:t>
            </a:r>
          </a:p>
        </p:txBody>
      </p:sp>
      <p:sp>
        <p:nvSpPr>
          <p:cNvPr id="2" name="">
            <a:extLst xmlns:a="http://schemas.openxmlformats.org/drawingml/2006/main">
              <a:ext uri="{FF2B5EF4-FFF2-40B4-BE49-F238E27FC236}">
                <a16:creationId xmlns:a16="http://schemas.microsoft.com/office/drawing/2014/main" id="{4038CE6C-84FD-4583-B764-4357FAA56229}"/>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EXACT FINITE CONTROL</a:t>
            </a:r>
          </a:p>
        </p:txBody>
      </p:sp>
      <p:sp>
        <p:nvSpPr>
          <p:cNvPr id="3" name="">
            <a:extLst xmlns:a="http://schemas.openxmlformats.org/drawingml/2006/main">
              <a:ext uri="{FF2B5EF4-FFF2-40B4-BE49-F238E27FC236}">
                <a16:creationId xmlns:a16="http://schemas.microsoft.com/office/drawing/2014/main" id="{113FCD5F-48FC-40EB-9B8A-AD3EB50E6C0E}"/>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8F90A13C-BC8F-4ECE-80F2-186ABDB280A2}"/>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Chart"/>
          <p:cNvGraphicFramePr/>
          <p:nvPr/>
        </p:nvGraphicFramePr>
        <p:xfrm>
          <a:off xmlns:a="http://schemas.openxmlformats.org/drawingml/2006/main" x="609600" y="2009775"/>
          <a:ext xmlns:a="http://schemas.openxmlformats.org/drawingml/2006/main" cx="6858000" cy="3276600"/>
        </p:xfrm>
        <a:graphic xmlns:a="http://schemas.openxmlformats.org/drawingml/2006/main">
          <a:graphicData uri="http://schemas.openxmlformats.org/drawingml/2006/chart">
            <c:chart xmlns:r="http://schemas.openxmlformats.org/officeDocument/2006/relationships" xmlns:c="http://schemas.openxmlformats.org/drawingml/2006/chart" r:id="Rbaab91098dcb4c70"/>
          </a:graphicData>
        </a:graphic>
      </p:graphicFrame>
      <p:sp>
        <p:nvSpPr>
          <p:cNvPr id="6" name="">
            <a:extLst xmlns:a="http://schemas.openxmlformats.org/drawingml/2006/main">
              <a:ext uri="{FF2B5EF4-FFF2-40B4-BE49-F238E27FC236}">
                <a16:creationId xmlns:a16="http://schemas.microsoft.com/office/drawing/2014/main" id="{147A3F74-27BE-4A85-A54E-7D886AE0B571}"/>
              </a:ext>
            </a:extLst>
          </p:cNvPr>
          <p:cNvSpPr>
            <a:spLocks xmlns:a="http://schemas.openxmlformats.org/drawingml/2006/main" noGrp="1"/>
          </p:cNvSpPr>
          <p:nvPr/>
        </p:nvSpPr>
        <p:spPr>
          <a:xfrm xmlns:a="http://schemas.openxmlformats.org/drawingml/2006/main">
            <a:off x="7962900" y="21812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Same initial information</a:t>
            </a:r>
          </a:p>
        </p:txBody>
      </p:sp>
      <p:sp>
        <p:nvSpPr>
          <p:cNvPr id="7" name="">
            <a:extLst xmlns:a="http://schemas.openxmlformats.org/drawingml/2006/main">
              <a:ext uri="{FF2B5EF4-FFF2-40B4-BE49-F238E27FC236}">
                <a16:creationId xmlns:a16="http://schemas.microsoft.com/office/drawing/2014/main" id="{A1231AE7-9CF0-4523-A15C-D9854EDFA22D}"/>
              </a:ext>
            </a:extLst>
          </p:cNvPr>
          <p:cNvSpPr>
            <a:spLocks xmlns:a="http://schemas.openxmlformats.org/drawingml/2006/main" noGrp="1"/>
          </p:cNvSpPr>
          <p:nvPr/>
        </p:nvSpPr>
        <p:spPr>
          <a:xfrm xmlns:a="http://schemas.openxmlformats.org/drawingml/2006/main">
            <a:off x="7962900" y="3190875"/>
            <a:ext cx="3619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I(state; memory) = 2.512 bits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Path leakage = 1.781 bits</a:t>
            </a:r>
          </a:p>
        </p:txBody>
      </p:sp>
      <p:sp>
        <p:nvSpPr>
          <p:cNvPr id="8" name="">
            <a:extLst xmlns:a="http://schemas.openxmlformats.org/drawingml/2006/main">
              <a:ext uri="{FF2B5EF4-FFF2-40B4-BE49-F238E27FC236}">
                <a16:creationId xmlns:a16="http://schemas.microsoft.com/office/drawing/2014/main" id="{09938A1B-65BE-4B23-BD08-A617FC475DD1}"/>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Exact finite control, 90 task cells. Regret is lower-is-better. This is separate from the LLM assays.</a:t>
            </a:r>
          </a:p>
        </p:txBody>
      </p:sp>
    </p:spTree>
    <p:extLst>
      <p:ext uri="{BB962C8B-B14F-4D97-AF65-F5344CB8AC3E}">
        <p14:creationId xmlns:p14="http://schemas.microsoft.com/office/powerpoint/2010/main" val="1426724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7628DE-D2ED-4EB2-89F9-D3825CF46B4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Distinct examples at fixed training exposure</a:t>
            </a:r>
          </a:p>
        </p:txBody>
      </p:sp>
      <p:sp>
        <p:nvSpPr>
          <p:cNvPr id="2" name="">
            <a:extLst xmlns:a="http://schemas.openxmlformats.org/drawingml/2006/main">
              <a:ext uri="{FF2B5EF4-FFF2-40B4-BE49-F238E27FC236}">
                <a16:creationId xmlns:a16="http://schemas.microsoft.com/office/drawing/2014/main" id="{4881CD74-2CB8-4350-9D4D-A6B2CACD5665}"/>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DIVERSITY</a:t>
            </a:r>
          </a:p>
        </p:txBody>
      </p:sp>
      <p:sp>
        <p:nvSpPr>
          <p:cNvPr id="3" name="">
            <a:extLst xmlns:a="http://schemas.openxmlformats.org/drawingml/2006/main">
              <a:ext uri="{FF2B5EF4-FFF2-40B4-BE49-F238E27FC236}">
                <a16:creationId xmlns:a16="http://schemas.microsoft.com/office/drawing/2014/main" id="{B5F1CF58-6F89-4DAD-B24E-21EE73E9D19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D5418896-F977-424B-B443-AF522555358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01494076c9164ad3"/>
          </a:graphicData>
        </a:graphic>
      </p:graphicFrame>
      <p:sp>
        <p:nvSpPr>
          <p:cNvPr id="6" name="">
            <a:extLst xmlns:a="http://schemas.openxmlformats.org/drawingml/2006/main">
              <a:ext uri="{FF2B5EF4-FFF2-40B4-BE49-F238E27FC236}">
                <a16:creationId xmlns:a16="http://schemas.microsoft.com/office/drawing/2014/main" id="{2831D7A5-505E-4EC4-8D2E-96A3B72BCC1C}"/>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Distinct training examples. 2,000 optimizer steps and 32,000 presentations fixed. 3 seeds per condition.</a:t>
            </a:r>
          </a:p>
        </p:txBody>
      </p:sp>
    </p:spTree>
    <p:extLst>
      <p:ext uri="{BB962C8B-B14F-4D97-AF65-F5344CB8AC3E}">
        <p14:creationId xmlns:p14="http://schemas.microsoft.com/office/powerpoint/2010/main" val="5350064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613AAF-2853-4119-B998-5DB6BE53C22F}"/>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codec and threshold count</a:t>
            </a:r>
          </a:p>
        </p:txBody>
      </p:sp>
      <p:sp>
        <p:nvSpPr>
          <p:cNvPr id="2" name="">
            <a:extLst xmlns:a="http://schemas.openxmlformats.org/drawingml/2006/main">
              <a:ext uri="{FF2B5EF4-FFF2-40B4-BE49-F238E27FC236}">
                <a16:creationId xmlns:a16="http://schemas.microsoft.com/office/drawing/2014/main" id="{191F8D00-CB70-417C-B4E9-AF4606C6C7D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MEASUREMENT CONTRACT</a:t>
            </a:r>
          </a:p>
        </p:txBody>
      </p:sp>
      <p:sp>
        <p:nvSpPr>
          <p:cNvPr id="3" name="">
            <a:extLst xmlns:a="http://schemas.openxmlformats.org/drawingml/2006/main">
              <a:ext uri="{FF2B5EF4-FFF2-40B4-BE49-F238E27FC236}">
                <a16:creationId xmlns:a16="http://schemas.microsoft.com/office/drawing/2014/main" id="{56A7BBA6-B9F3-4BF5-8F1F-D5D1C3F8F53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1B5682E6-CDEC-4285-832F-FB98051F196A}"/>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C141EC-4894-42CD-9D72-9559A9968B94}"/>
              </a:ext>
            </a:extLst>
          </p:cNvPr>
          <p:cNvSpPr>
            <a:spLocks xmlns:a="http://schemas.openxmlformats.org/drawingml/2006/main" noGrp="1"/>
          </p:cNvSpPr>
          <p:nvPr/>
        </p:nvSpPr>
        <p:spPr>
          <a:xfrm xmlns:a="http://schemas.openxmlformats.org/drawingml/2006/main">
            <a:off x="609600" y="2085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Included in the file</a:t>
            </a:r>
          </a:p>
        </p:txBody>
      </p:sp>
      <p:sp>
        <p:nvSpPr>
          <p:cNvPr id="6" name="">
            <a:extLst xmlns:a="http://schemas.openxmlformats.org/drawingml/2006/main">
              <a:ext uri="{FF2B5EF4-FFF2-40B4-BE49-F238E27FC236}">
                <a16:creationId xmlns:a16="http://schemas.microsoft.com/office/drawing/2014/main" id="{CC22B9AC-B97E-495F-8698-4FA021F111F0}"/>
              </a:ext>
            </a:extLst>
          </p:cNvPr>
          <p:cNvSpPr>
            <a:spLocks xmlns:a="http://schemas.openxmlformats.org/drawingml/2006/main" noGrp="1"/>
          </p:cNvSpPr>
          <p:nvPr/>
        </p:nvSpPr>
        <p:spPr>
          <a:xfrm xmlns:a="http://schemas.openxmlformats.org/drawingml/2006/main">
            <a:off x="609600" y="26765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Quantized factors</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Scales and metadata</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Bit-packed, zlib-compressed payload</a:t>
            </a:r>
          </a:p>
        </p:txBody>
      </p:sp>
      <p:sp>
        <p:nvSpPr>
          <p:cNvPr id="7" name="">
            <a:extLst xmlns:a="http://schemas.openxmlformats.org/drawingml/2006/main">
              <a:ext uri="{FF2B5EF4-FFF2-40B4-BE49-F238E27FC236}">
                <a16:creationId xmlns:a16="http://schemas.microsoft.com/office/drawing/2014/main" id="{1DAA1F89-25C5-4791-BC82-7B09E18BC4DD}"/>
              </a:ext>
            </a:extLst>
          </p:cNvPr>
          <p:cNvSpPr>
            <a:spLocks xmlns:a="http://schemas.openxmlformats.org/drawingml/2006/main" noGrp="1"/>
          </p:cNvSpPr>
          <p:nvPr/>
        </p:nvSpPr>
        <p:spPr>
          <a:xfrm xmlns:a="http://schemas.openxmlformats.org/drawingml/2006/main">
            <a:off x="6667500" y="20859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Conditioned on</a:t>
            </a:r>
          </a:p>
        </p:txBody>
      </p:sp>
      <p:sp>
        <p:nvSpPr>
          <p:cNvPr id="8" name="">
            <a:extLst xmlns:a="http://schemas.openxmlformats.org/drawingml/2006/main">
              <a:ext uri="{FF2B5EF4-FFF2-40B4-BE49-F238E27FC236}">
                <a16:creationId xmlns:a16="http://schemas.microsoft.com/office/drawing/2014/main" id="{74859EAC-9CFA-4ACF-BA7D-2705811D3F6A}"/>
              </a:ext>
            </a:extLst>
          </p:cNvPr>
          <p:cNvSpPr>
            <a:spLocks xmlns:a="http://schemas.openxmlformats.org/drawingml/2006/main" noGrp="1"/>
          </p:cNvSpPr>
          <p:nvPr/>
        </p:nvSpPr>
        <p:spPr>
          <a:xfrm xmlns:a="http://schemas.openxmlformats.org/drawingml/2006/main">
            <a:off x="6667500" y="26765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shared frozen backbone</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One fixed adapter checkpoint</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named held-out utility</a:t>
            </a:r>
          </a:p>
        </p:txBody>
      </p:sp>
      <p:sp>
        <p:nvSpPr>
          <p:cNvPr id="9" name="">
            <a:extLst xmlns:a="http://schemas.openxmlformats.org/drawingml/2006/main">
              <a:ext uri="{FF2B5EF4-FFF2-40B4-BE49-F238E27FC236}">
                <a16:creationId xmlns:a16="http://schemas.microsoft.com/office/drawing/2014/main" id="{D6A7A926-EE65-46A7-BF7F-1E6532DB65D7}"/>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5F9001-6803-4087-9CD3-10BD028E3452}"/>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 is an attainable rate within the tested codec family.</a:t>
            </a:r>
          </a:p>
        </p:txBody>
      </p:sp>
      <p:sp>
        <p:nvSpPr>
          <p:cNvPr id="11" name="">
            <a:extLst xmlns:a="http://schemas.openxmlformats.org/drawingml/2006/main">
              <a:ext uri="{FF2B5EF4-FFF2-40B4-BE49-F238E27FC236}">
                <a16:creationId xmlns:a16="http://schemas.microsoft.com/office/drawing/2014/main" id="{4C641B70-D911-424A-BA7F-C1C75A74EDEA}"/>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Sub-bit rates use paired rank-direction removal. File rate uses the original adapter value count.</a:t>
            </a:r>
          </a:p>
        </p:txBody>
      </p:sp>
    </p:spTree>
    <p:extLst>
      <p:ext uri="{BB962C8B-B14F-4D97-AF65-F5344CB8AC3E}">
        <p14:creationId xmlns:p14="http://schemas.microsoft.com/office/powerpoint/2010/main" val="7074957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AD6D18-8741-49EA-A1A4-6D703D3C646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Prediction, accuracy, and state recovery</a:t>
            </a:r>
          </a:p>
        </p:txBody>
      </p:sp>
      <p:sp>
        <p:nvSpPr>
          <p:cNvPr id="2" name="">
            <a:extLst xmlns:a="http://schemas.openxmlformats.org/drawingml/2006/main">
              <a:ext uri="{FF2B5EF4-FFF2-40B4-BE49-F238E27FC236}">
                <a16:creationId xmlns:a16="http://schemas.microsoft.com/office/drawing/2014/main" id="{CC90967C-8920-41DA-920D-41454D2F426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METRIC DEFINITIONS</a:t>
            </a:r>
          </a:p>
        </p:txBody>
      </p:sp>
      <p:sp>
        <p:nvSpPr>
          <p:cNvPr id="3" name="">
            <a:extLst xmlns:a="http://schemas.openxmlformats.org/drawingml/2006/main">
              <a:ext uri="{FF2B5EF4-FFF2-40B4-BE49-F238E27FC236}">
                <a16:creationId xmlns:a16="http://schemas.microsoft.com/office/drawing/2014/main" id="{5A5501DC-6E83-4F68-BE13-D0BDB0ABA2C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7382CBFF-337D-4D99-B01D-62E72866A21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9775"/>
          <a:ext xmlns:a="http://schemas.openxmlformats.org/drawingml/2006/main" cx="10972800" cy="3352800"/>
        </p:xfrm>
        <a:graphic xmlns:a="http://schemas.openxmlformats.org/drawingml/2006/main">
          <a:graphicData uri="http://schemas.openxmlformats.org/drawingml/2006/table">
            <a:tbl>
              <a:tblPr/>
              <a:tblGrid>
                <a:gridCol w="3381375"/>
                <a:gridCol w="7591425"/>
              </a:tblGrid>
              <a:tr h="558800">
                <a:tc>
                  <a:txBody>
                    <a:bodyPr/>
                    <a:lstStyle/>
                    <a:p>
                      <a:r>
                        <a:rPr sz="1650" b="1">
                          <a:solidFill>
                            <a:srgbClr val="FFFFFF"/>
                          </a:solidFill>
                          <a:latin typeface="Helvetica Neue"/>
                          <a:ea typeface="Helvetica Neue"/>
                          <a:cs typeface="Helvetica Neue"/>
                        </a:rPr>
                        <a:t>Metric</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Question</a:t>
                      </a:r>
                    </a:p>
                  </a:txBody>
                  <a:tcPr marL="91440" marR="91440" marT="45720" marB="45720">
                    <a:solidFill>
                      <a:srgbClr val="142E38"/>
                    </a:solidFill>
                  </a:tcPr>
                </a:tc>
              </a:tr>
              <a:tr h="558800">
                <a:tc>
                  <a:txBody>
                    <a:bodyPr/>
                    <a:lstStyle/>
                    <a:p>
                      <a:r>
                        <a:rPr sz="1650" b="0">
                          <a:solidFill>
                            <a:srgbClr val="142E38"/>
                          </a:solidFill>
                          <a:latin typeface="Helvetica Neue"/>
                          <a:ea typeface="Helvetica Neue"/>
                          <a:cs typeface="Helvetica Neue"/>
                        </a:rPr>
                        <a:t>Held-out NLL</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Does the model predict the scored tokens?</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Retained gain</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How much improvement over the base survives?</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Answer exact match</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Is the final task answer correct?</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Exact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Does the complete supplied ledger match?</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Boundary AUC / F1</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 we detect a target / do selected gaps agree?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140080-343F-4190-AAFA-78FB6538F94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Every reported rate and retention value needs a named utility and evaluation span.</a:t>
            </a:r>
          </a:p>
        </p:txBody>
      </p:sp>
    </p:spTree>
    <p:extLst>
      <p:ext uri="{BB962C8B-B14F-4D97-AF65-F5344CB8AC3E}">
        <p14:creationId xmlns:p14="http://schemas.microsoft.com/office/powerpoint/2010/main" val="13190387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DDBC09-DCA9-4226-9E24-33ACDBA6384D}"/>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Semantic boundaries are decodable too</a:t>
            </a:r>
          </a:p>
        </p:txBody>
      </p:sp>
      <p:sp>
        <p:nvSpPr>
          <p:cNvPr id="2" name="">
            <a:extLst xmlns:a="http://schemas.openxmlformats.org/drawingml/2006/main">
              <a:ext uri="{FF2B5EF4-FFF2-40B4-BE49-F238E27FC236}">
                <a16:creationId xmlns:a16="http://schemas.microsoft.com/office/drawing/2014/main" id="{3C3EDAFC-A5B4-4E87-A22B-6C5303D2523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JUDGED REASONING SPANS</a:t>
            </a:r>
          </a:p>
        </p:txBody>
      </p:sp>
      <p:sp>
        <p:nvSpPr>
          <p:cNvPr id="3" name="">
            <a:extLst xmlns:a="http://schemas.openxmlformats.org/drawingml/2006/main">
              <a:ext uri="{FF2B5EF4-FFF2-40B4-BE49-F238E27FC236}">
                <a16:creationId xmlns:a16="http://schemas.microsoft.com/office/drawing/2014/main" id="{F8F9B082-176E-4E62-9C31-AA1100411AF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3B531E8D-8C5B-405F-9FA1-01AB2806A58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19300"/>
          <a:ext xmlns:a="http://schemas.openxmlformats.org/drawingml/2006/main" cx="10972800" cy="3219450"/>
        </p:xfrm>
        <a:graphic xmlns:a="http://schemas.openxmlformats.org/drawingml/2006/main">
          <a:graphicData uri="http://schemas.openxmlformats.org/drawingml/2006/chart">
            <c:chart xmlns:r="http://schemas.openxmlformats.org/officeDocument/2006/relationships" xmlns:c="http://schemas.openxmlformats.org/drawingml/2006/chart" r:id="R6a6f902c18084433"/>
          </a:graphicData>
        </a:graphic>
      </p:graphicFrame>
      <p:sp>
        <p:nvSpPr>
          <p:cNvPr id="6" name="">
            <a:extLst xmlns:a="http://schemas.openxmlformats.org/drawingml/2006/main">
              <a:ext uri="{FF2B5EF4-FFF2-40B4-BE49-F238E27FC236}">
                <a16:creationId xmlns:a16="http://schemas.microsoft.com/office/drawing/2014/main" id="{B1A4004A-8B43-4F4F-8D6F-08841968E25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1,761 judge-labeled spans, 58 traces. Question-disjoint evaluation. Labels come from Qwen-110B-A25B.</a:t>
            </a:r>
          </a:p>
        </p:txBody>
      </p:sp>
    </p:spTree>
    <p:extLst>
      <p:ext uri="{BB962C8B-B14F-4D97-AF65-F5344CB8AC3E}">
        <p14:creationId xmlns:p14="http://schemas.microsoft.com/office/powerpoint/2010/main" val="6402609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2D4E53-1F6D-4770-9AC7-98E18F4B1ED0}"/>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Correction-spectrum screen and its limits</a:t>
            </a:r>
          </a:p>
        </p:txBody>
      </p:sp>
      <p:sp>
        <p:nvSpPr>
          <p:cNvPr id="2" name="">
            <a:extLst xmlns:a="http://schemas.openxmlformats.org/drawingml/2006/main">
              <a:ext uri="{FF2B5EF4-FFF2-40B4-BE49-F238E27FC236}">
                <a16:creationId xmlns:a16="http://schemas.microsoft.com/office/drawing/2014/main" id="{76CF9BE6-6EC8-4672-867B-7F246FEFF32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PREDICTOR COMPARISON</a:t>
            </a:r>
          </a:p>
        </p:txBody>
      </p:sp>
      <p:sp>
        <p:nvSpPr>
          <p:cNvPr id="3" name="">
            <a:extLst xmlns:a="http://schemas.openxmlformats.org/drawingml/2006/main">
              <a:ext uri="{FF2B5EF4-FFF2-40B4-BE49-F238E27FC236}">
                <a16:creationId xmlns:a16="http://schemas.microsoft.com/office/drawing/2014/main" id="{78D8EA05-33A1-4B32-BCE8-A32613B987D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D953B704-6A1B-4EF3-AFB2-61672F17FFE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0250"/>
          <a:ext xmlns:a="http://schemas.openxmlformats.org/drawingml/2006/main" cx="10972800" cy="3276600"/>
        </p:xfrm>
        <a:graphic xmlns:a="http://schemas.openxmlformats.org/drawingml/2006/main">
          <a:graphicData uri="http://schemas.openxmlformats.org/drawingml/2006/table">
            <a:tbl>
              <a:tblPr/>
              <a:tblGrid>
                <a:gridCol w="4514850"/>
                <a:gridCol w="2247900"/>
                <a:gridCol w="1924050"/>
                <a:gridCol w="2286000"/>
              </a:tblGrid>
              <a:tr h="546100">
                <a:tc>
                  <a:txBody>
                    <a:bodyPr/>
                    <a:lstStyle/>
                    <a:p>
                      <a:r>
                        <a:rPr sz="1650" b="1">
                          <a:solidFill>
                            <a:srgbClr val="FFFFFF"/>
                          </a:solidFill>
                          <a:latin typeface="Helvetica Neue"/>
                          <a:ea typeface="Helvetica Neue"/>
                          <a:cs typeface="Helvetica Neue"/>
                        </a:rPr>
                        <a:t>Measure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Within-model ρ</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Adjusted p</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Held-out RMSE</a:t>
                      </a:r>
                    </a:p>
                  </a:txBody>
                  <a:tcPr marL="91440" marR="91440" marT="45720" marB="45720">
                    <a:solidFill>
                      <a:srgbClr val="142E38"/>
                    </a:solidFill>
                  </a:tcPr>
                </a:tc>
              </a:tr>
              <a:tr h="546100">
                <a:tc>
                  <a:txBody>
                    <a:bodyPr/>
                    <a:lstStyle/>
                    <a:p>
                      <a:r>
                        <a:rPr sz="1650" b="0">
                          <a:solidFill>
                            <a:srgbClr val="142E38"/>
                          </a:solidFill>
                          <a:latin typeface="Helvetica Neue"/>
                          <a:ea typeface="Helvetica Neue"/>
                          <a:cs typeface="Helvetica Neue"/>
                        </a:rPr>
                        <a:t>Correction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0.764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0.00034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0.187</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Correction effective rank</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0.609</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0.0112</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0.181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Surprise-weighted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0.614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0.0103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0.204</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Base target code length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0.200</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0.524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0.261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Model-only fit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0.264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3F96C26-B8CB-41D9-B84E-ED49E9814776}"/>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RMSE in bits per adapter value, lower is better. Family-held-out evaluation. 22 conditions, 10 screened measures.</a:t>
            </a:r>
          </a:p>
        </p:txBody>
      </p:sp>
    </p:spTree>
    <p:extLst>
      <p:ext uri="{BB962C8B-B14F-4D97-AF65-F5344CB8AC3E}">
        <p14:creationId xmlns:p14="http://schemas.microsoft.com/office/powerpoint/2010/main" val="1651237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2026-09-05T12:27:39.5550000Z</dcterms:created>
  <dcterms:modified xsi:type="dcterms:W3CDTF">2026-09-05T12:27:39.5550000Z</dcterms:modified>
</coreProperties>
</file>