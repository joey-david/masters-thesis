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5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7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Retained task gain</c:v>
                </c:pt>
              </c:strCache>
            </c:strRef>
          </c:tx>
          <c:spPr>
            <a:solidFill>
              <a:srgbClr val="007F7B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E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Uniform sign code</c:v>
                  </c:pt>
                  <c:pt idx="1">
                    <c:v>Adaptive allocation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0.857</c:v>
                </c:pt>
                <c:pt idx="1">
                  <c:v>0.026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200" u="none">
                  <a:solidFill>
                    <a:srgbClr val="142E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Mistral-7B</c:v>
                </c:pt>
              </c:strCache>
            </c:strRef>
          </c:tx>
          <c:spPr>
            <a:solidFill>
              <a:srgbClr val="007F7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E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Instruction</c:v>
                  </c:pt>
                  <c:pt idx="1">
                    <c:v>Summary</c:v>
                  </c:pt>
                  <c:pt idx="2">
                    <c:v>Math</c:v>
                  </c:pt>
                  <c:pt idx="3">
                    <c:v>Code</c:v>
                  </c:pt>
                  <c:pt idx="4">
                    <c:v>Dialogue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0.643</c:v>
                </c:pt>
                <c:pt idx="1">
                  <c:v>0.652</c:v>
                </c:pt>
                <c:pt idx="2">
                  <c:v>0.737</c:v>
                </c:pt>
                <c:pt idx="3">
                  <c:v>0.891</c:v>
                </c:pt>
                <c:pt idx="4">
                  <c:v>0.913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Qwen2.5-7B</c:v>
                </c:pt>
              </c:strCache>
            </c:strRef>
          </c:tx>
          <c:spPr>
            <a:solidFill>
              <a:srgbClr val="C9743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E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Instruction</c:v>
                  </c:pt>
                  <c:pt idx="1">
                    <c:v>Summary</c:v>
                  </c:pt>
                  <c:pt idx="2">
                    <c:v>Math</c:v>
                  </c:pt>
                  <c:pt idx="3">
                    <c:v>Code</c:v>
                  </c:pt>
                  <c:pt idx="4">
                    <c:v>Dialogue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0.774</c:v>
                </c:pt>
                <c:pt idx="1">
                  <c:v>0.388</c:v>
                </c:pt>
                <c:pt idx="2">
                  <c:v>0.411</c:v>
                </c:pt>
                <c:pt idx="3">
                  <c:v>0.668</c:v>
                </c:pt>
                <c:pt idx="4">
                  <c:v>1.176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42E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5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ptos"/>
              <a:cs typeface="Apto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Own-objective detector AUC</c:v>
                </c:pt>
              </c:strCache>
            </c:strRef>
          </c:tx>
          <c:spPr>
            <a:solidFill>
              <a:srgbClr val="C9743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E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Answer</c:v>
                  </c:pt>
                  <c:pt idx="1">
                    <c:v>Symbolic update</c:v>
                  </c:pt>
                  <c:pt idx="2">
                    <c:v>Correctness</c:v>
                  </c:pt>
                  <c:pt idx="3">
                    <c:v>PCA geometry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0.999</c:v>
                </c:pt>
                <c:pt idx="1">
                  <c:v>0.984</c:v>
                </c:pt>
                <c:pt idx="2">
                  <c:v>0.849</c:v>
                </c:pt>
                <c:pt idx="3">
                  <c:v>0.868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42E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Final-answer accuracy</c:v>
                </c:pt>
              </c:strCache>
            </c:strRef>
          </c:tx>
          <c:spPr>
            <a:solidFill>
              <a:srgbClr val="C97433"/>
            </a:solidFill>
            <a:effectLst/>
          </c:spPr>
          <c:invertIfNegative val="0"/>
          <c:dLbls>
            <c:numFmt formatCode="0.0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E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One-pass lookup</c:v>
                  </c:pt>
                  <c:pt idx="1">
                    <c:v>Predicted-state handoff</c:v>
                  </c:pt>
                  <c:pt idx="2">
                    <c:v>Correct-state handoff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0.1344</c:v>
                </c:pt>
                <c:pt idx="1">
                  <c:v>0.7698</c:v>
                </c:pt>
                <c:pt idx="2">
                  <c:v>1</c:v>
                </c:pt>
              </c:numCache>
            </c:numRef>
          </c:val>
        </c:ser>
        <c:dLbls>
          <c:numFmt formatCode="0.00%" sourceLinked="0"/>
          <c:txPr>
            <a:bodyPr/>
            <a:lstStyle/>
            <a:p>
              <a:pPr>
                <a:defRPr b="0" i="0" strike="noStrike" sz="1200" u="none">
                  <a:solidFill>
                    <a:srgbClr val="142E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Reasoning-span gain</c:v>
                </c:pt>
              </c:strCache>
            </c:strRef>
          </c:tx>
          <c:spPr>
            <a:solidFill>
              <a:srgbClr val="007F7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E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Mistral-7B</c:v>
                  </c:pt>
                  <c:pt idx="1">
                    <c:v>Qwen2.5-7B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1.07</c:v>
                </c:pt>
                <c:pt idx="1">
                  <c:v>0.471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Answer-span gain</c:v>
                </c:pt>
              </c:strCache>
            </c:strRef>
          </c:tx>
          <c:spPr>
            <a:solidFill>
              <a:srgbClr val="C9743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E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Mistral-7B</c:v>
                  </c:pt>
                  <c:pt idx="1">
                    <c:v>Qwen2.5-7B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0.578</c:v>
                </c:pt>
                <c:pt idx="1">
                  <c:v>0.575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42E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ptos"/>
              <a:cs typeface="Apto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Regret at horizon 32</c:v>
                </c:pt>
              </c:strCache>
            </c:strRef>
          </c:tx>
          <c:spPr>
            <a:solidFill>
              <a:srgbClr val="C9743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E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Full history</c:v>
                  </c:pt>
                  <c:pt idx="1">
                    <c:v>12-bit text suffix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2.2</c:v>
                </c:pt>
                <c:pt idx="1">
                  <c:v>30.91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42E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R*(0.90)</c:v>
                </c:pt>
              </c:strCache>
            </c:strRef>
          </c:tx>
          <c:spPr>
            <a:solidFill>
              <a:srgbClr val="007F7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E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2,000</c:v>
                  </c:pt>
                  <c:pt idx="1">
                    <c:v>4,000</c:v>
                  </c:pt>
                  <c:pt idx="2">
                    <c:v>8,000</c:v>
                  </c:pt>
                  <c:pt idx="3">
                    <c:v>16,000</c:v>
                  </c:pt>
                  <c:pt idx="4">
                    <c:v>32,000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0.645</c:v>
                </c:pt>
                <c:pt idx="1">
                  <c:v>0.74</c:v>
                </c:pt>
                <c:pt idx="2">
                  <c:v>0.709</c:v>
                </c:pt>
                <c:pt idx="3">
                  <c:v>0.832</c:v>
                </c:pt>
                <c:pt idx="4">
                  <c:v>1.002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42E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Held-out boundary AUC</c:v>
                </c:pt>
              </c:strCache>
            </c:strRef>
          </c:tx>
          <c:spPr>
            <a:solidFill>
              <a:srgbClr val="C9743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E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Latent detector</c:v>
                  </c:pt>
                  <c:pt idx="1">
                    <c:v>Away from sentence ends</c:v>
                  </c:pt>
                  <c:pt idx="2">
                    <c:v>Lexical TF–IDF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0.982</c:v>
                </c:pt>
                <c:pt idx="1">
                  <c:v>0.969</c:v>
                </c:pt>
                <c:pt idx="2">
                  <c:v>0.892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42E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25 s.
• Deux objets, une même question : quelle information doit survivre pour que le comportement survive ?
• Fine-tuning : l’information écrite dans une mise à jour de paramètres.
• Reasoning : l’information portée par un état intermédiaire et réellement réutilisable.
• Fil rouge : toujours parler d’information relativement à un récepteur et à un usage.
Source : Page de titre du rapport et §1.1.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38 s.
• Ici, « information » n’est pas une propriété intrinsèque d’un fichier ou d’une trace.
• Elle est relative : relative information = ce qui reste nécessaire une fois le récepteur et l’usage fixés.
• Fine-tuning : le récepteur possède déjà le base model ; seul l’update doit être transmis.
• Reasoning : le récepteur doit pouvoir continuer le calcul à partir d’un reasoning state.
• Les unités et protocoles sont différents ; le cadre conceptuel, lui, est commun.
Source : Rapport §1.2 et §5.2–5.3.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12 s.
• Point de départ du stage : étudier le fine-tuning sous un angle information-théorique.
• Question pratique : après avoir appris un dataset, combien de bits de la mise à jour faut-il réellement conserver ?
• On conditionne sur le base model : il est déjà connu du récepteur.
• Le stage s’est progressivement déplacé des proxies simples vers une mesure sérialisée, rechargeable et comportementale.
Source : Rapport §1.1–1.2 ; notes de trajectoire du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68 s.
• Base model : le modèle pré-entraîné avant notre dataset ; dans nos expériences il reste gelé.
• Learning a dataset : l’optimisation demande au modèle de corriger certaines prédictions sur les exemples du corpus.
• LoRA ne réécrit pas tout le modèle : il apprend une petite mise à jour ΔW = BA.
• Le base model agit donc comme side information partagée ; l’adapter est le message supplémentaire.
• Le rang réduit le nombre de valeurs entraînables, mais ne dit pas encore combien de bits il faut pour les coder.
Source : Rapport §2.3–2.4 et §3.2.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55 s.
• Après entraînement, on garde exactement le même checkpoint LoRA et on ne change que sa représentation numérique.
• À b bits par valeur, le payload brut vaut environ bP bits, plus les échelles et métadonnées.
• On sérialise réellement, on compresse, puis on recharge : le taux vient de la taille du fichier obtenu.
• Le bon objet n’est donc pas « le rang » mais la quantité de message nécessaire au récepteur.
• La reconstruction des poids peut bouger sans que le comportement bouge de la même façon.
Source : Rapport §2.3–2.5, §3.3 et annexe Codec ladder.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62 s.
• Rate–distortion pose la bonne question : représentation la plus courte sous une contrainte d’erreur.
• Mais l’erreur doit être comportementale : ici, ce que le modèle fait après rechargement.
• Le base model, le layout LoRA et le décodeur sont déjà connus : ils ne comptent pas dans le message.
• C’est exactement le sens de relative information dans ce travail : coût conditionnel au récepteur et à l’usage.
• R* reste un minimum sur notre famille de codecs testés, pas une borne de Shannon universelle.
Source : Rapport §2.5 et §3.3 ; Cover &amp; Thomas (2006).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82 s.
• On entraîne un adapter rank-16 une seule fois, puis on fige ce checkpoint.
• Pour chaque point : encoder → écrire un vrai fichier → recharger → évaluer sur du held-out.
• Donc chaque point est une autre représentation du même update, pas un nouvel entraînement.
• Retention = part du gain sur le modèle gelé qui survit à la compression.
• R*(0.90) = plus petit taux mesuré qui conserve au moins 90 % du gain.
• Important : ce seuil dépend du modèle, du codec, de l’architecture LoRA et de la métrique.
Source : Rapport §3.3 et annexe Codec ladder.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55 s.
• Premier réflexe : distribuer les bits pour minimiser l’erreur de reconstruction des poids.
• Contre-exemple net : l’allocation adaptative obtient une RMSE similaire mais détruit presque tout le gain.
• Le simple sign code uniforme conserve ~85.7 % du gain, contre ~2.6 %.
• Conclusion précise : la RMSE globale des poids n’est pas une distortion suffisante pour notre usage.
• Donc le comportement doit être mesuré au niveau de la sortie du modèle.
Source : Rapport §3.4 ; media/fineqcomp/plots/mdl_vs_uniform.png.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72 s.
• Hypothèse alternative : chaque dataset aurait un coût d’adapter intrinsèque.
• Test : mêmes cinq corpus, même protocole, mais deux base models gelés.
• L’ordre change : instruction est bon marché sur Mistral mais plus cher sur Qwen ; summarization bouge fortement aussi.
• Donc le corpus seul ne détermine pas R* dans ce protocole.
• C’est la preuve empirique la plus directe du caractère relatif au récepteur.
Source : Rapport §3.7, tableau model–corpus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78 s.
• Si le coût est relatif au modèle, il faut regarder ce que le dataset demande à ce modèle de corriger.
• Au niveau de la tête de sortie, le gradient token se factorise en représentation cachée × erreur de prédiction.
• On résume les directions de correction par un second moment et son spectre.
• Le log-volume ordonne bien les conditions à l’intérieur d’un modèle : Spearman ρ = 0.764.
• RMSE family-held-out = 0.187 contre 0.264 pour un fit model-only.
• Mais c’est encore un signal de campagne ; la vraie validation doit être prospective.
Source : Rapport §3.7, correction-spectrum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12 s.
• Deuxième piste née en parallèle : est-ce que le raisonnement expose des états intermédiaires compacts et naturels ?
• Reasoning state : une représentation intermédiaire supposée suffisante pour la prochaine étape utile.
• Il faut distinguer trois choses : structure décodable, état causalement réutilisable, et état stable sous mises à jour répétées.
• Comme en Partie I, « utile » dépend de l’objectif qui va lire l’état.
Source : Rapport §4.1–4.2 et §4.6–4.8.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68 s.
• Un LLM autoregressif transforme le préfixe en états cachés puis en distribution du prochain token.
• Chaque token généré rallonge le préfixe et déclenche un nouveau forward pass.
• Une étape sémantique peut donc couvrir plusieurs tokens — token boundary ≠ reasoning-state boundary.
• Reasoning state : ce qui doit être disponible pour que la prochaine computation utile reste possible.
• Le point de départ expérimental : chercher si de tels états produisent une décomposition stable du CoT.
Source : Rapport §2.1–2.2 et §4.1–4.2.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64 s.
• On note x le problème, z la trace intermédiaire et y la réponse finale.
• La trace est générée token par token ; elle ne vient pas avec des frontières sémantiques données.
• Exemple simple : « May = 24 » peut nécessiter plusieurs tokens avant d’être disponible comme fait utilisable.
• On peut écrire la factorisation probabiliste, mais en génération standard on suit une seule trajectoire.
• C’est ce décalage entre token steps et semantic states que les expériences de segmentation testent.
Source : Rapport §2.1–2.2 et §4.1.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78 s.
• On teste quatre utilités sur les mêmes gaps entre tokens : answer progress, symbolic update, correctness et PCA geometry.
• Même budget de frontières pour tout le monde : comparaison équitable.
• Les détecteurs supervisés retrouvent très bien leur propre cible.
• Mais les oracles eux-mêmes se recouvrent peu : F1 seulement ~0.10–0.21 dans ±4 tokens.
• La meilleure règle testée qui essaie de servir tous les objectifs n’atteint que 0.020 en worst-objective utility.
• Conclusion : pas de décomposition canonique évidente pour les utilités testées.
Source : Rapport §4.3.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78 s.
• Assay contrôlé : huit états, petit programme, puis lookup état→réponse.
• Qwen2.5-32B sait appliquer une update locale quand l’état lui est fourni.
• À horizon 2, il infère l’endpoint ~77 %, mais le prompt one-pass endpoint+lookup tombe à 13.44 %.
• Intervention : faire prédire l’état, effacer l’historique, donner cet état à un nouvel appel.
• La précision revient à 76.98 %, et un endpoint correct fourni donne 100 %.
• Donc le problème ressemble ici à du routing/composition, pas seulement à de l’information absente.
Source : Rapport §4.6, native state and explicit handoff.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82 s.
• Quatre faits donnent 16 états possibles : sous full support, il faut au moins 4 bits pour les identifier exactement.
• 3 bits imposent une collision : impossible de récupérer tous les états.
• 4-bit canonical = un nom stable par état ; 5-bit padded garde cette stabilité.
• 5-bit path-aliased a autant de capacité mais donne plusieurs noms au même état selon l’histoire.
• Canonical/padded restent exacts jusqu’à H=256 ; path-aliased tombe à 30–40 % dès depth 3.
• Même nombre de bits ≠ même interface causale.
Source : Rapport §4.7, rate, shared meaning, and closure.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60 s.
• Sur une tâche register plus variée, l’interface est correcte localement ~89 % du temps.
• La mesure locale repart de l’état effectivement fourni : on ne double-compte pas une erreur antérieure.
• Mais après 32 étapes auto-alimentées, la réponse finale n’est correcte que 7.92 % du temps.
• Chance = 6.25 %, one-pass = 5.83 % : le long horizon est quasiment perdu.
• 0.89^31 ≈ 2.7 % est seulement une intuition si les erreurs étaient indépendantes, pas un modèle ajusté.
• Le vrai critère est l’exécution fermée complète.
Source : Rapport §4.7 et local/global reliability experiment.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68 s.
• Connexion la plus directe entre les deux axes : même protocole de compression d’adapter sur MetaMathQA.
• Mais on score séparément les tokens de reasoning et ceux de final answer.
• Mistral : reasoning coûte 1.070 bits/value, answer 0.578.
• Qwen : reasoning coûte 0.471, answer 0.575 — l’ordre s’inverse.
• Donc même au sein d’un même dataset, le coût dépend du base model et de l’utilité que l’on veut préserver.
• Attention : c’est un taux de stockage d’update, pas la longueur informationnelle d’une CoT.
Source : Rapport §5.1–5.3.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62 s.
• Fine-tuning : on a un taux rechargeable et comportemental ; le dataset seul ne fixe pas ce taux.
• Reasoning : des structures sont décodables, mais cela ne garantit ni réutilisation causale ni stabilité récursive.
• Lecture commune : l’information utile est relative à un récepteur et une tâche ; sous récursion, la règle d’update devient essentielle.
• Ce n’est pas encore une loi prédictive unique entre les deux axes.
• Prochain test fort : prédire R* prospectivement à partir des correction spectra, avant d’observer les taux.
• Autre pont : compresser un reasoning adapter et suivre séparément decoding, handoff et answer behavior.
Source : Rapport §3.8, §4.8 et §5.2–5.4.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28 s.
• Contribution centrale : remplacer des proxies vagues d’« information » par des tests comportementaux concrets.
• Fine-tuning : mesurer le message supplémentaire nécessaire à un base model donné.
• Reasoning : demander si un reasoning state permet réellement de continuer le calcul.
• Dans les deux cas : receiver + utility définissent ce qui compte comme information utile.
• Sous utilisation répétée, il faut en plus que la représentation reste correctement mise à jour.
• Dernière phrase : « information is not in the object alone; it is in the object-for-a-use ». Merci.
Source : Abstract, §5 et §6.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secours — seulement si la question se pose.
• Contrôle fini exact, pas une expérience LLM.
• Full history et suffixe 12-bit ont initialement le même support et la même information instantanée sur l’état.
• Leurs règles d’update diffèrent ensuite : le suffixe oublie les observations anciennes.
• À H=32 : regret 2.20 contre 30.91 ; pooled suffix regret 7.19× plus grand.
• Message : snapshot information ne suffit pas à définir une mémoire utile ; la dynamique de mise à jour compte.
Source : Rapport §4.5.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secours — seulement si la question se pose.
• 2 000 optimizer steps et 32 000 présentations sont fixes dans toutes les conditions.
• Le taux moyen augmente globalement avec le nombre d’exemples distincts, mais pas de manière monotone.
• Fit sur 15 runs : R²=0.78, donc tendance interne à la campagne, pas loi d’échelle générale.
• Contrôle séparé de diversité de contenu : 0.682 → 0.742 bits/value sur six seeds.
• Les réplications SQL/XBRL montrent que la relation dépend encore du domaine et de la couverture.
Source : Rapport §3.5 et annexe.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secours — seulement si la question se pose.
• Le fichier contient facteurs quantifiés, scales, metadata, bit packing et zlib.
• Sous 1 bit/value, le codec peut supprimer des directions de rang A/B appariées.
• La normalisation reste le nombre de valeurs de l’adapter original.
• Le base model partagé est explicitement exclu du budget.
• R* est le minimum atteignable sur la ladder testée, pas le minimum de description global.
• Comparer des rangs différents demande aussi de regarder la taille totale du fichier.
Source : Rapport §3.3 et annexe Codec ladder.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secours — seulement si la question se pose.
• NLL, exact match, retained gain, exact state et boundary AUC/F1 répondent à des questions différentes.
• Retained gain normalise toujours une utility sous-jacente : elle doit être nommée.
• Exact state exige que le ledger fini complet soit correct.
• Boundary AUC mesure un ranking ; F1 mesure l’accord de points sélectionnés.
• 90 % de gain NLL conservé ne veut pas dire 90 % d’accuracy finale.
Source : Rapport §2.7, §3.3, §4.3 et §4.7.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secours — seulement si la question se pose.
• Un grand modèle juge neuf types d’édition dans des traces SmolLM courtes et correctes.
• Après alignement/filtrage : 1 761 spans sur 58 traces.
• Détecteur latent : AUC 0.982 ; loin des fins de phrase : 0.969.
• Mais TF–IDF lexical atteint déjà 0.892 : signal pas uniquement latent.
• Le transfert vers les quatre objectifs opérationnels reste faible.
• Donc structure sémantique apprenable, mais pas preuve d’une décomposition unique.
Source : Rapport §4.4.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secours — seulement si la question se pose.
• 22 conditions distinctes, sept familles de tâches, dix mesures candidates.
• Le p ajusté tient compte du screening de plusieurs mesures.
• RMSE = leave-one-family-out : plus informatif qu’une simple corrélation in-sample, mais même campagne et mêmes familles de modèles.
• Effective rank a la meilleure RMSE ; log-volume la meilleure ordering within-model.
• Conclusion prudente : signal prometteur, prochaine étape = fixer la mesure et tester des conditions inédites.
Source : Rapport §3.7, table relative-info-screen.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6199632"/>
            <a:ext cx="10972800" cy="0"/>
          </a:xfrm>
          <a:prstGeom prst="line">
            <a:avLst/>
          </a:prstGeom>
          <a:noFill/>
          <a:ln w="12700">
            <a:solidFill>
              <a:srgbClr val="CBD6D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6199632"/>
            <a:ext cx="10972800" cy="0"/>
          </a:xfrm>
          <a:prstGeom prst="line">
            <a:avLst/>
          </a:prstGeom>
          <a:noFill/>
          <a:ln w="12700">
            <a:solidFill>
              <a:srgbClr val="3150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3002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9CB4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82BC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MASTER’S THESIS · IASD · PSL · 2026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12648" y="130759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constraints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12648" y="2112264"/>
            <a:ext cx="10561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fine-tuning and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reasoning language models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612648" y="4041648"/>
            <a:ext cx="960120" cy="0"/>
          </a:xfrm>
          <a:prstGeom prst="line">
            <a:avLst/>
          </a:prstGeom>
          <a:noFill/>
          <a:ln w="38100">
            <a:solidFill>
              <a:srgbClr val="007F7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441655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Joey David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12648" y="490118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5C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MILES, LAMSADE · Université Paris Dauphine–PSL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2648" y="527608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5C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Supervision: Paul Caillon and Alexandre Allauzen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QUESTION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much information must survive?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12648" y="18745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Fine-tuning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12648" y="2340864"/>
            <a:ext cx="4800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compressed update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12648" y="294436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model already shared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transmit only what learning added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742432" y="1847088"/>
            <a:ext cx="0" cy="0"/>
          </a:xfrm>
          <a:prstGeom prst="line">
            <a:avLst/>
          </a:prstGeom>
          <a:noFill/>
          <a:ln w="12700">
            <a:solidFill>
              <a:srgbClr val="CBD6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715000" y="1865376"/>
            <a:ext cx="0" cy="2331720"/>
          </a:xfrm>
          <a:prstGeom prst="line">
            <a:avLst/>
          </a:prstGeom>
          <a:noFill/>
          <a:ln w="12700">
            <a:solidFill>
              <a:srgbClr val="CBD6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8232" y="18745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28232" y="2340864"/>
            <a:ext cx="4709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reasoning state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428232" y="2944368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must remain available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so the next computation still works?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12648" y="5138928"/>
            <a:ext cx="566928" cy="0"/>
          </a:xfrm>
          <a:prstGeom prst="line">
            <a:avLst/>
          </a:prstGeom>
          <a:noFill/>
          <a:ln w="25400">
            <a:solidFill>
              <a:srgbClr val="007F7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4974336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Relative information = receiver + task + update rule.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6199632"/>
            <a:ext cx="10972800" cy="0"/>
          </a:xfrm>
          <a:prstGeom prst="line">
            <a:avLst/>
          </a:prstGeom>
          <a:noFill/>
          <a:ln w="12700">
            <a:solidFill>
              <a:srgbClr val="3150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3002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9CB4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82BC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12648" y="12435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12648" y="1865376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Fine-tuning</a:t>
            </a:r>
            <a:endParaRPr lang="en-US" sz="4600" dirty="0"/>
          </a:p>
        </p:txBody>
      </p:sp>
      <p:sp>
        <p:nvSpPr>
          <p:cNvPr id="8" name="Shape 5"/>
          <p:cNvSpPr/>
          <p:nvPr/>
        </p:nvSpPr>
        <p:spPr>
          <a:xfrm>
            <a:off x="612648" y="3063240"/>
            <a:ext cx="1005840" cy="0"/>
          </a:xfrm>
          <a:prstGeom prst="line">
            <a:avLst/>
          </a:prstGeom>
          <a:noFill/>
          <a:ln w="38100">
            <a:solidFill>
              <a:srgbClr val="007F7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3383280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dirty="0">
                <a:solidFill>
                  <a:srgbClr val="CDD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Internship starting point: information-theoretic limits of fine-tuning — how compactly can a learned update be represented while preserving the behavior it learned?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 · FOUNDATIONS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model → dataset learning → adapter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12648" y="1828800"/>
            <a:ext cx="3063240" cy="1078992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0664" y="1901952"/>
            <a:ext cx="280720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MODEL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(frozen receiver)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822192" y="2368296"/>
            <a:ext cx="640080" cy="0"/>
          </a:xfrm>
          <a:prstGeom prst="line">
            <a:avLst/>
          </a:prstGeom>
          <a:noFill/>
          <a:ln w="19050">
            <a:solidFill>
              <a:srgbClr val="007F7B"/>
            </a:solidFill>
            <a:prstDash val="solid"/>
            <a:headEnd type="non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599432" y="1828800"/>
            <a:ext cx="2880360" cy="1078992"/>
          </a:xfrm>
          <a:prstGeom prst="rect">
            <a:avLst/>
          </a:prstGeom>
          <a:solidFill>
            <a:srgbClr val="F6E9DC"/>
          </a:solidFill>
          <a:ln w="12700">
            <a:solidFill>
              <a:srgbClr val="F6E9DC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27448" y="1901952"/>
            <a:ext cx="26243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signal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635240" y="2368296"/>
            <a:ext cx="640080" cy="0"/>
          </a:xfrm>
          <a:prstGeom prst="line">
            <a:avLst/>
          </a:prstGeom>
          <a:noFill/>
          <a:ln w="19050">
            <a:solidFill>
              <a:srgbClr val="007F7B"/>
            </a:solidFill>
            <a:prstDash val="solid"/>
            <a:headEnd type="non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412480" y="1828800"/>
            <a:ext cx="3154680" cy="1078992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40496" y="1901952"/>
            <a:ext cx="28986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LoRA ADAPTER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update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932688" y="3419856"/>
            <a:ext cx="4663440" cy="777240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78992" y="3474720"/>
            <a:ext cx="43708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W′ = W + ΔW,     ΔW = B A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6455664" y="3419856"/>
            <a:ext cx="4663440" cy="777240"/>
          </a:xfrm>
          <a:prstGeom prst="rect">
            <a:avLst/>
          </a:prstGeom>
          <a:solidFill>
            <a:srgbClr val="F6E9DC"/>
          </a:solidFill>
          <a:ln w="12700">
            <a:solidFill>
              <a:srgbClr val="F6E9D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01968" y="3474720"/>
            <a:ext cx="43708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trainable values ≈ r(dᵢₙ + dₒᵤₜ)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612648" y="5129784"/>
            <a:ext cx="566928" cy="0"/>
          </a:xfrm>
          <a:prstGeom prst="line">
            <a:avLst/>
          </a:prstGeom>
          <a:noFill/>
          <a:ln w="25400">
            <a:solidFill>
              <a:srgbClr val="007F7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371600" y="4965192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dataset does not carry a fixed cost: it asks this base model for a correction.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 · FOUNDATIONS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adapter’s numerical code determines its rate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12648" y="1810512"/>
            <a:ext cx="3246120" cy="795528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" y="1865376"/>
            <a:ext cx="2953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ΔŴ = B̂ Â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4041648" y="2212848"/>
            <a:ext cx="603504" cy="0"/>
          </a:xfrm>
          <a:prstGeom prst="line">
            <a:avLst/>
          </a:prstGeom>
          <a:noFill/>
          <a:ln w="19050">
            <a:solidFill>
              <a:srgbClr val="577079"/>
            </a:solidFill>
            <a:prstDash val="solid"/>
            <a:headEnd type="non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791456" y="1746504"/>
            <a:ext cx="2889504" cy="941832"/>
          </a:xfrm>
          <a:prstGeom prst="rect">
            <a:avLst/>
          </a:prstGeom>
          <a:solidFill>
            <a:srgbClr val="F6E9DC"/>
          </a:solidFill>
          <a:ln w="12700">
            <a:solidFill>
              <a:srgbClr val="F6E9DC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19472" y="1819656"/>
            <a:ext cx="263347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pack + scales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metadata + zlib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836408" y="2212848"/>
            <a:ext cx="603504" cy="0"/>
          </a:xfrm>
          <a:prstGeom prst="line">
            <a:avLst/>
          </a:prstGeom>
          <a:noFill/>
          <a:ln w="19050">
            <a:solidFill>
              <a:srgbClr val="577079"/>
            </a:solidFill>
            <a:prstDash val="solid"/>
            <a:headEnd type="non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586216" y="1746504"/>
            <a:ext cx="2971800" cy="941832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14232" y="1819656"/>
            <a:ext cx="27157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reload into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base model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12648" y="320040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entropy coding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12648" y="3584448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b × P bits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= original adapter value count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28232" y="32004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rate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428232" y="3593592"/>
            <a:ext cx="4572000" cy="758952"/>
          </a:xfrm>
          <a:prstGeom prst="rect">
            <a:avLst/>
          </a:prstGeom>
          <a:solidFill>
            <a:srgbClr val="F6E9DC"/>
          </a:solidFill>
          <a:ln w="12700">
            <a:solidFill>
              <a:srgbClr val="F6E9DC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74536" y="3648456"/>
            <a:ext cx="42793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 = 8 × file bytes / P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612648" y="5138928"/>
            <a:ext cx="566928" cy="0"/>
          </a:xfrm>
          <a:prstGeom prst="line">
            <a:avLst/>
          </a:prstGeom>
          <a:noFill/>
          <a:ln w="25400">
            <a:solidFill>
              <a:srgbClr val="007F7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1600" y="4974336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learned update; only the code changes.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 · FOUNDATIONS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Relative information as rate–distortion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12648" y="18470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 information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12648" y="2276856"/>
            <a:ext cx="4041648" cy="1645920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0664" y="2350008"/>
            <a:ext cx="378561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model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layout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decoder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07492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74920" y="2276856"/>
            <a:ext cx="2514600" cy="1645920"/>
          </a:xfrm>
          <a:prstGeom prst="rect">
            <a:avLst/>
          </a:prstGeom>
          <a:solidFill>
            <a:srgbClr val="F6E9DC"/>
          </a:solidFill>
          <a:ln w="12700">
            <a:solidFill>
              <a:srgbClr val="F6E9DC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202936" y="2350008"/>
            <a:ext cx="22585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serialized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update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804672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Distortion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2276856"/>
            <a:ext cx="3511296" cy="1645920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74736" y="2350008"/>
            <a:ext cx="325526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lost held-out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behavior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1069848" y="4462272"/>
            <a:ext cx="10058400" cy="621792"/>
          </a:xfrm>
          <a:prstGeom prst="rect">
            <a:avLst/>
          </a:prstGeom>
          <a:solidFill>
            <a:srgbClr val="F4F7F7"/>
          </a:solidFill>
          <a:ln w="12700">
            <a:solidFill>
              <a:srgbClr val="F4F7F7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16152" y="4517136"/>
            <a:ext cx="9765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R*(0.90) = min measured rate  subject to ≥ 90% retained gain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 · FINE-TUNING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exact rate for a fixed learned update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12648" y="1901952"/>
            <a:ext cx="2240280" cy="658368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0664" y="1975104"/>
            <a:ext cx="19842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adapter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2971800" y="2231136"/>
            <a:ext cx="438912" cy="0"/>
          </a:xfrm>
          <a:prstGeom prst="line">
            <a:avLst/>
          </a:prstGeom>
          <a:noFill/>
          <a:ln w="19050">
            <a:solidFill>
              <a:srgbClr val="577079"/>
            </a:solidFill>
            <a:prstDash val="solid"/>
            <a:headEnd type="non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557016" y="1901952"/>
            <a:ext cx="2240280" cy="658368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85032" y="1975104"/>
            <a:ext cx="19842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Encode file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916168" y="2231136"/>
            <a:ext cx="438912" cy="0"/>
          </a:xfrm>
          <a:prstGeom prst="line">
            <a:avLst/>
          </a:prstGeom>
          <a:noFill/>
          <a:ln w="19050">
            <a:solidFill>
              <a:srgbClr val="577079"/>
            </a:solidFill>
            <a:prstDash val="solid"/>
            <a:headEnd type="non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501384" y="1901952"/>
            <a:ext cx="1938528" cy="658368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29400" y="1975104"/>
            <a:ext cx="1682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Reload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558784" y="2231136"/>
            <a:ext cx="438912" cy="0"/>
          </a:xfrm>
          <a:prstGeom prst="line">
            <a:avLst/>
          </a:prstGeom>
          <a:noFill/>
          <a:ln w="19050">
            <a:solidFill>
              <a:srgbClr val="577079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9144000" y="1901952"/>
            <a:ext cx="2395728" cy="658368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72016" y="1975104"/>
            <a:ext cx="2139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874520" y="3081528"/>
            <a:ext cx="8458200" cy="713232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020824" y="3136392"/>
            <a:ext cx="8165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Retention = (Ucompressed − Ubase) / (Uraw − Ubase)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1463040" y="4224528"/>
            <a:ext cx="9326880" cy="713232"/>
          </a:xfrm>
          <a:prstGeom prst="rect">
            <a:avLst/>
          </a:prstGeom>
          <a:solidFill>
            <a:srgbClr val="F6E9DC"/>
          </a:solidFill>
          <a:ln w="12700">
            <a:solidFill>
              <a:srgbClr val="F6E9DC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609344" y="4279392"/>
            <a:ext cx="9034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R*(0.90) = min { R : Retention(R) ≥ 0.90 }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30936" y="5788152"/>
            <a:ext cx="10469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770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C: tested codecs · M: frozen model · U: scored behavior · held-out evaluation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 · A FAILED ALLOCATION RULE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error misses behavioral damage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2648" y="1865376"/>
          <a:ext cx="672084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8001000" y="1965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1 bit / value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8001000" y="2898648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weight RMSE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83 points apart in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retained task gain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612648" y="5193792"/>
            <a:ext cx="566928" cy="0"/>
          </a:xfrm>
          <a:prstGeom prst="line">
            <a:avLst/>
          </a:prstGeom>
          <a:noFill/>
          <a:ln w="25400">
            <a:solidFill>
              <a:srgbClr val="007F7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371600" y="5029200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Behavior must be measured at the model’s output.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 · RECEIVER DEPENDENCE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corpus ordering changes with the model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2648" y="1764792"/>
          <a:ext cx="10652760" cy="35021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630936" y="5788152"/>
            <a:ext cx="10469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770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R*(0.90), bits per original adapter value · 3 seeds per corpus/model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 · CURRENT HYPOTHESIS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Correction spectra are a promising predictor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12648" y="1956816"/>
            <a:ext cx="6812280" cy="749808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" y="2011680"/>
            <a:ext cx="6519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gᵢₜ ≈ hᵢₜ ⊗ (pᵢₜ − eᵧ)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12648" y="3154680"/>
            <a:ext cx="6812280" cy="749808"/>
          </a:xfrm>
          <a:prstGeom prst="rect">
            <a:avLst/>
          </a:prstGeom>
          <a:solidFill>
            <a:srgbClr val="F6E9DC"/>
          </a:solidFill>
          <a:ln w="12700">
            <a:solidFill>
              <a:srgbClr val="F6E9DC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" y="3209544"/>
            <a:ext cx="6519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Icorr = Σⱼ log(1 + λⱼ)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12648" y="4279392"/>
            <a:ext cx="6812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5770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corrections across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5770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independent directions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65008" y="1901952"/>
            <a:ext cx="3063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0.764</a:t>
            </a:r>
            <a:endParaRPr lang="en-US" sz="4500" dirty="0"/>
          </a:p>
        </p:txBody>
      </p:sp>
      <p:sp>
        <p:nvSpPr>
          <p:cNvPr id="11" name="Text 8"/>
          <p:cNvSpPr/>
          <p:nvPr/>
        </p:nvSpPr>
        <p:spPr>
          <a:xfrm>
            <a:off x="8065008" y="2679192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within-model Spearman ρ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065008" y="36118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 conditions</a:t>
            </a:r>
            <a:endParaRPr lang="en-US" sz="1900" dirty="0"/>
          </a:p>
          <a:p>
            <a:pPr algn="l" indent="0" marL="0">
              <a:buNone/>
            </a:pPr>
            <a:r>
              <a:rPr lang="en-US" sz="19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task families</a:t>
            </a:r>
            <a:endParaRPr lang="en-US" sz="1900" dirty="0"/>
          </a:p>
          <a:p>
            <a:pPr algn="l" indent="0" marL="0">
              <a:buNone/>
            </a:pPr>
            <a:r>
              <a:rPr lang="en-US" sz="19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frozen 7B models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6199632"/>
            <a:ext cx="10972800" cy="0"/>
          </a:xfrm>
          <a:prstGeom prst="line">
            <a:avLst/>
          </a:prstGeom>
          <a:noFill/>
          <a:ln w="12700">
            <a:solidFill>
              <a:srgbClr val="3150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3002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9CB4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82BC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II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12648" y="12435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II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12648" y="1865376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Reasoning states</a:t>
            </a:r>
            <a:endParaRPr lang="en-US" sz="4600" dirty="0"/>
          </a:p>
        </p:txBody>
      </p:sp>
      <p:sp>
        <p:nvSpPr>
          <p:cNvPr id="8" name="Shape 5"/>
          <p:cNvSpPr/>
          <p:nvPr/>
        </p:nvSpPr>
        <p:spPr>
          <a:xfrm>
            <a:off x="612648" y="3063240"/>
            <a:ext cx="1005840" cy="0"/>
          </a:xfrm>
          <a:prstGeom prst="line">
            <a:avLst/>
          </a:prstGeom>
          <a:noFill/>
          <a:ln w="38100">
            <a:solidFill>
              <a:srgbClr val="C974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3383280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dirty="0">
                <a:solidFill>
                  <a:srgbClr val="CDD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inference time the information object is no longer a parameter update: it is an intermediate state that should let the model continue the computation.</a:t>
            </a:r>
            <a:endParaRPr lang="en-US" sz="2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II · FOUNDATIONS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tokens to a reasoning state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12648" y="1874520"/>
            <a:ext cx="2331720" cy="758952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0664" y="1947672"/>
            <a:ext cx="20756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Prefix tokens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3072384" y="2249424"/>
            <a:ext cx="502920" cy="0"/>
          </a:xfrm>
          <a:prstGeom prst="line">
            <a:avLst/>
          </a:prstGeom>
          <a:noFill/>
          <a:ln w="19050">
            <a:solidFill>
              <a:srgbClr val="577079"/>
            </a:solidFill>
            <a:prstDash val="solid"/>
            <a:headEnd type="non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730752" y="1874520"/>
            <a:ext cx="2560320" cy="758952"/>
          </a:xfrm>
          <a:prstGeom prst="rect">
            <a:avLst/>
          </a:prstGeom>
          <a:solidFill>
            <a:srgbClr val="F6E9DC"/>
          </a:solidFill>
          <a:ln w="12700">
            <a:solidFill>
              <a:srgbClr val="F6E9DC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858768" y="1947672"/>
            <a:ext cx="23042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Transformer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19088" y="2249424"/>
            <a:ext cx="502920" cy="0"/>
          </a:xfrm>
          <a:prstGeom prst="line">
            <a:avLst/>
          </a:prstGeom>
          <a:noFill/>
          <a:ln w="19050">
            <a:solidFill>
              <a:srgbClr val="577079"/>
            </a:solidFill>
            <a:prstDash val="solid"/>
            <a:headEnd type="non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7077456" y="1874520"/>
            <a:ext cx="2468880" cy="758952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205472" y="1947672"/>
            <a:ext cx="2212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activations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9683496" y="2249424"/>
            <a:ext cx="502920" cy="0"/>
          </a:xfrm>
          <a:prstGeom prst="line">
            <a:avLst/>
          </a:prstGeom>
          <a:noFill/>
          <a:ln w="19050">
            <a:solidFill>
              <a:srgbClr val="577079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332720" y="1874520"/>
            <a:ext cx="1207008" cy="758952"/>
          </a:xfrm>
          <a:prstGeom prst="rect">
            <a:avLst/>
          </a:prstGeom>
          <a:solidFill>
            <a:srgbClr val="F6E9DC"/>
          </a:solidFill>
          <a:ln w="12700">
            <a:solidFill>
              <a:srgbClr val="F6E9DC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460736" y="1947672"/>
            <a:ext cx="9509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token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033272" y="3200400"/>
            <a:ext cx="4709160" cy="713232"/>
          </a:xfrm>
          <a:prstGeom prst="rect">
            <a:avLst/>
          </a:prstGeom>
          <a:solidFill>
            <a:srgbClr val="F4F7F7"/>
          </a:solidFill>
          <a:ln w="12700">
            <a:solidFill>
              <a:srgbClr val="F4F7F7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79576" y="3255264"/>
            <a:ext cx="4416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p(x₁:T) = ∏ₜ p(xₜ | x&lt;ₜ)</a:t>
            </a:r>
            <a:endParaRPr lang="en-US" sz="2300" dirty="0"/>
          </a:p>
        </p:txBody>
      </p:sp>
      <p:sp>
        <p:nvSpPr>
          <p:cNvPr id="18" name="Text 15"/>
          <p:cNvSpPr/>
          <p:nvPr/>
        </p:nvSpPr>
        <p:spPr>
          <a:xfrm>
            <a:off x="6510528" y="31821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reasoning state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10528" y="3575304"/>
            <a:ext cx="4645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“something decodable” —</a:t>
            </a:r>
            <a:endParaRPr lang="en-US" sz="1900" dirty="0"/>
          </a:p>
          <a:p>
            <a:pPr algn="l" indent="0" marL="0">
              <a:buNone/>
            </a:pPr>
            <a:r>
              <a:rPr lang="en-US" sz="19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must support the next useful computation.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12648" y="5193792"/>
            <a:ext cx="566928" cy="0"/>
          </a:xfrm>
          <a:prstGeom prst="line">
            <a:avLst/>
          </a:prstGeom>
          <a:noFill/>
          <a:ln w="25400">
            <a:solidFill>
              <a:srgbClr val="C974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71600" y="5029200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semantic step can span many token steps.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II · FOUNDATIONS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the model builds a chain of thought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12648" y="1783080"/>
            <a:ext cx="10652760" cy="804672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" y="1837944"/>
            <a:ext cx="10360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p(z, y | x) = [∏ₜ p(zₜ | x, z&lt;ₜ)] · p(y | x, z)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12648" y="30449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trajectory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" y="3438144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“… half as many … 24 … total … 72”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263640" y="30449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Semantic state hypothesis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263640" y="3401568"/>
            <a:ext cx="42519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April = 48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= 24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= 72</a:t>
            </a:r>
            <a:endParaRPr lang="en-US" sz="2300" dirty="0"/>
          </a:p>
        </p:txBody>
      </p:sp>
      <p:sp>
        <p:nvSpPr>
          <p:cNvPr id="11" name="Shape 8"/>
          <p:cNvSpPr/>
          <p:nvPr/>
        </p:nvSpPr>
        <p:spPr>
          <a:xfrm>
            <a:off x="612648" y="5148072"/>
            <a:ext cx="566928" cy="0"/>
          </a:xfrm>
          <a:prstGeom prst="line">
            <a:avLst/>
          </a:prstGeom>
          <a:noFill/>
          <a:ln w="25400">
            <a:solidFill>
              <a:srgbClr val="C974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4983480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natural internal boundaries line up across different utilities?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II · REASONING TRAJECTORIES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objectives select different boundaries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2648" y="1828800"/>
          <a:ext cx="69494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7955280" y="18745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0.098–0.210</a:t>
            </a:r>
            <a:endParaRPr lang="en-US" sz="2700" dirty="0"/>
          </a:p>
        </p:txBody>
      </p:sp>
      <p:sp>
        <p:nvSpPr>
          <p:cNvPr id="7" name="Text 3"/>
          <p:cNvSpPr/>
          <p:nvPr/>
        </p:nvSpPr>
        <p:spPr>
          <a:xfrm>
            <a:off x="7955280" y="2450592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oracle-boundary F1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 ±4 tokens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7955280" y="37033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0.020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7955280" y="4251960"/>
            <a:ext cx="3246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worst-objective utility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among tested rules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II · A CAUSAL STATE TEST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explicit handoff restores composition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12648" y="157276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770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Eight-state program → state-to-answer lookup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12648" y="1874520"/>
          <a:ext cx="106527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612648" y="5193792"/>
            <a:ext cx="566928" cy="0"/>
          </a:xfrm>
          <a:prstGeom prst="line">
            <a:avLst/>
          </a:prstGeom>
          <a:noFill/>
          <a:ln w="25400">
            <a:solidFill>
              <a:srgbClr val="C9743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371600" y="5029200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Fresh call: predicted state only; original history deleted.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II · CONTROLLED PROOF STATES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Capacity and stable names matter separately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901952"/>
          <a:ext cx="10652760" cy="2926080"/>
        </p:xfrm>
        <a:graphic>
          <a:graphicData uri="http://schemas.openxmlformats.org/drawingml/2006/table">
            <a:tbl>
              <a:tblPr/>
              <a:tblGrid>
                <a:gridCol w="2057400"/>
                <a:gridCol w="868680"/>
                <a:gridCol w="3246120"/>
                <a:gridCol w="448056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Code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E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Bits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E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Naming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E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Exact state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E3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Lossy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Collisions required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Cannot recover all 16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Canonical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One name per state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100% through H=256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Padded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Same stable naming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100% through H=256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Path-aliased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Name depends on path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30–40% at depth 3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12648" y="5230368"/>
            <a:ext cx="566928" cy="0"/>
          </a:xfrm>
          <a:prstGeom prst="line">
            <a:avLst/>
          </a:prstGeom>
          <a:noFill/>
          <a:ln w="25400">
            <a:solidFill>
              <a:srgbClr val="C97433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1371600" y="5065776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five bits, semantics—not capacity—changes recovery.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II · LIMIT OF THE INTERFACE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errors accumulate under repeated use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12648" y="1956816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89%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12648" y="2770632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local transitions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446520" y="1956816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7.92%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6446520" y="2770632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final answers at H=32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1133856" y="3794760"/>
            <a:ext cx="9875520" cy="713232"/>
          </a:xfrm>
          <a:prstGeom prst="rect">
            <a:avLst/>
          </a:prstGeom>
          <a:solidFill>
            <a:srgbClr val="E4F1EE"/>
          </a:solidFill>
          <a:ln w="12700">
            <a:solidFill>
              <a:srgbClr val="E4F1EE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80160" y="3849624"/>
            <a:ext cx="9582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42E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ŝₜ₊₁ = f(ŝₜ, xₜ₊₁)  →  feed predicted state back in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12648" y="4800600"/>
            <a:ext cx="10652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5770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Chance: 6.25%   ·   One-pass reasoning: 5.83%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SYNTHESIS · ONE COMPLETED COMPARISON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Reasoning and answer rates also reverse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2648" y="1828800"/>
          <a:ext cx="106527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630936" y="5788152"/>
            <a:ext cx="10469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770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R*(0.90), bits per adapter value · MetaMathQA · next-token gain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SYNTHESIS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experiments establish — and what to test next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12648" y="17556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12648" y="2194560"/>
            <a:ext cx="4983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receiver-dependent adapter rate</a:t>
            </a:r>
            <a:endParaRPr lang="en-US" sz="1900" dirty="0"/>
          </a:p>
          <a:p>
            <a:pPr algn="l" indent="0" marL="0">
              <a:buNone/>
            </a:pPr>
            <a:r>
              <a:rPr lang="en-US" sz="19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objective-dependent reasoning partitions</a:t>
            </a:r>
            <a:endParaRPr lang="en-US" sz="1900" dirty="0"/>
          </a:p>
          <a:p>
            <a:pPr algn="l" indent="0" marL="0">
              <a:buNone/>
            </a:pPr>
            <a:r>
              <a:rPr lang="en-US" sz="19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decodable ≠ causally reusable</a:t>
            </a:r>
            <a:endParaRPr lang="en-US" sz="1900" dirty="0"/>
          </a:p>
          <a:p>
            <a:pPr algn="l" indent="0" marL="0">
              <a:buNone/>
            </a:pPr>
            <a:r>
              <a:rPr lang="en-US" sz="19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recursive reliability is separate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428232" y="175564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falsifiable tests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28232" y="219456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predict rates before training</a:t>
            </a:r>
            <a:endParaRPr lang="en-US" sz="2000" dirty="0"/>
          </a:p>
          <a:p>
            <a:pPr algn="l" indent="0" marL="0">
              <a:buNone/>
            </a:pP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compress one reasoning adapter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  and compare failure points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2648" y="5212080"/>
            <a:ext cx="566928" cy="0"/>
          </a:xfrm>
          <a:prstGeom prst="line">
            <a:avLst/>
          </a:prstGeom>
          <a:noFill/>
          <a:ln w="25400">
            <a:solidFill>
              <a:srgbClr val="007F7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71600" y="5047488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interpretation now; common predictive law still open.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6199632"/>
            <a:ext cx="10972800" cy="0"/>
          </a:xfrm>
          <a:prstGeom prst="line">
            <a:avLst/>
          </a:prstGeom>
          <a:noFill/>
          <a:ln w="12700">
            <a:solidFill>
              <a:srgbClr val="3150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0" y="63002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9CB4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82BC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information depends on its use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12648" y="199339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78C8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Receiver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12648" y="2587752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model must use the information?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12648" y="37947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4AA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 and update rule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12648" y="4407408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behavior must survive, and for how long?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BACKUP · EXACT FINITE CONTROL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Equal snapshot information, unequal memory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2648" y="1920240"/>
          <a:ext cx="66294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7818120" y="21031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initial information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818120" y="3090672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I(state; memory) = 2.512 bits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leakage = 1.781 bits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BACKUP · DIVERSITY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Distinct examples at fixed training exposure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2648" y="1883664"/>
          <a:ext cx="106527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BACKUP · MEASUREMENT CONTRACT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codec and threshold count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12648" y="199339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Included in the file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12648" y="2441448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Quantized factors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Scales and metadata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Bit-packed + zlib payload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428232" y="199339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Conditioned 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28232" y="2441448"/>
            <a:ext cx="4681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frozen base model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adapter checkpoint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held-out utility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2648" y="5138928"/>
            <a:ext cx="566928" cy="0"/>
          </a:xfrm>
          <a:prstGeom prst="line">
            <a:avLst/>
          </a:prstGeom>
          <a:noFill/>
          <a:ln w="25400">
            <a:solidFill>
              <a:srgbClr val="007F7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71600" y="4974336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R* is attainable within the tested codec family.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BACKUP · METRIC DEFINITIONS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Prediction, accuracy, and state recovery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865376"/>
          <a:ext cx="10652760" cy="3364992"/>
        </p:xfrm>
        <a:graphic>
          <a:graphicData uri="http://schemas.openxmlformats.org/drawingml/2006/table">
            <a:tbl>
              <a:tblPr/>
              <a:tblGrid>
                <a:gridCol w="3246120"/>
                <a:gridCol w="7406640"/>
              </a:tblGrid>
              <a:tr h="5608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E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Question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E38"/>
                    </a:solidFill>
                  </a:tcPr>
                </a:tc>
              </a:tr>
              <a:tr h="5608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Held-out NLL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Does the model predict the scored tokens?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08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Retained gain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How much improvement over the base survives?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</a:tr>
              <a:tr h="5608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Answer exact match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the final task answer correct?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08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Exact state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Does the complete supplied ledger match?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</a:tr>
              <a:tr h="5608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Boundary AUC / F1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Can we detect a target / do selected gaps agree?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BACKUP · JUDGED REASONING SPANS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Semantic boundaries are decodable too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2648" y="1874520"/>
          <a:ext cx="10652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219456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007F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BACKUP · PREDICTOR COMPARISON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12648" y="6126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E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Correction-spectrum screen and its limits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847088"/>
          <a:ext cx="10652760" cy="3383280"/>
        </p:xfrm>
        <a:graphic>
          <a:graphicData uri="http://schemas.openxmlformats.org/drawingml/2006/table">
            <a:tbl>
              <a:tblPr/>
              <a:tblGrid>
                <a:gridCol w="4251960"/>
                <a:gridCol w="2148840"/>
                <a:gridCol w="1847088"/>
                <a:gridCol w="2404872"/>
              </a:tblGrid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Measure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E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Within-model ρ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E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Adjusted p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E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Held-out RMSE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E38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Correction log-volume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0.764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0.00034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0.187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Correction effective rank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0.609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0.0112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0.181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Surprise-weighted log-volume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0.0103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0.204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Base target code length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0.200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0.524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0.261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E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Model-only fit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—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—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E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0.264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0216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770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MILES · LAMSADE · Université Paris Dauphine–PSL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Information constraints in fine-tuning and reasoning language models</dc:title>
  <dc:subject>Master thesis defense</dc:subject>
  <dc:creator>Joey David</dc:creator>
  <cp:lastModifiedBy>Joey David</cp:lastModifiedBy>
  <cp:revision>1</cp:revision>
  <dcterms:created xsi:type="dcterms:W3CDTF">2026-09-07T20:40:11Z</dcterms:created>
  <dcterms:modified xsi:type="dcterms:W3CDTF">2026-09-07T20:40:11Z</dcterms:modified>
</cp:coreProperties>
</file>